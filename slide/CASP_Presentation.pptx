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presenting the Cloud Assignment Submission Portal, or CASP — a serverless app my Kappa-Team group built during the Cloud Build With Peers cohort at Akwannya Hub. Think of it as an intake desk in the cloud: students drop assignments at one counter, lecturers collect them at the other, and every handoff gets a timestamped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most schools still submit assignments over WhatsApp, email or flash drives. That means no single record of what came in, nothing searchable, no real proof a student submitted on time, and nothing to build features like grading history on top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keeps that mental model but runs it on serverless AWS. The Submission Window is where students hand off work and get a stamped receipt back. The Lecturer Window is where staff search, filter and download from a live ledger. No app installs — it's just two web pages talking to a small set of managed AWS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Walking through the student flow: they fill a short slip, then our API — API Gateway in front of Lambda — validates it and writes a PENDING record to DynamoDB. Instead of routing the file through Lambda, we hand the browser a presigned URL and it uploads directly to S3, so there's no payload size limit to fight. Once the object lands in S3, an event fires a second Lambda that flips the record to UPLOADED, and the student sees their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architecture end to end: browser, API Gateway, Lambda, and S3 plus DynamoDB for storage and metadata. The dashed line shows the event-driven feedback loop I just described — S3 tells Lambda when a file has really arrived, so our metadata never lies about what's actually in the bucket. Six AWS services in total: S3, DynamoDB, API Gateway, Lambda, IAM and CloudWatch — and every one of them is pay-per-use, so there's no server sitting idle between assignments.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words on security, since this holds student work. Upload and download links are presigned and expire within minutes — nothing in the bucket is ever public. Each Lambda function has its own least-privilege IAM role. The lecturer ledger sits behind an access code today, built so it's a straightforward swap to Cognito accounts later. And CloudWatch logs every request and event, so we have an audit trail that matches every stamped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real login for students and lecturers via Cognito, email notifications for confirmations and deadlines through SES, file versioning so resubmissions don't overwrite the original, and an analytics dashboard built off the same DynamoDB table we already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Cloud Assignment Submission Portal — built entirely on serverless AWS services by Kappa-Team for Akwannya Hub's Cloud Build With Peers cohort. The code is on GitHub at josh059/Cloud-assignment-submission-portal.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K">
    <p:bg>
      <p:bgPr>
        <a:solidFill>
          <a:srgbClr val="12182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7"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2.xml"/><Relationship Id="rId4" Type="http://schemas.openxmlformats.org/officeDocument/2006/relationships/image" Target="../media/image11.png"/><Relationship Id="rId3" Type="http://schemas.openxmlformats.org/officeDocument/2006/relationships/image" Target="../media/image12.png"/><Relationship Id="rId2" Type="http://schemas.openxmlformats.org/officeDocument/2006/relationships/image" Target="../media/image3.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15.png"/><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1822"/>
          </a:solidFill>
        </p:spPr>
      </p:sp>
      <p:sp>
        <p:nvSpPr>
          <p:cNvPr id="3" name="Shape 1"/>
          <p:cNvSpPr/>
          <p:nvPr/>
        </p:nvSpPr>
        <p:spPr>
          <a:xfrm>
            <a:off x="640080" y="685800"/>
            <a:ext cx="914400" cy="292608"/>
          </a:xfrm>
          <a:prstGeom prst="roundRect">
            <a:avLst>
              <a:gd name="adj" fmla="val 15625"/>
            </a:avLst>
          </a:prstGeom>
          <a:ln w="12700">
            <a:solidFill>
              <a:srgbClr val="B5482E"/>
            </a:solidFill>
            <a:prstDash val="solid"/>
          </a:ln>
        </p:spPr>
      </p:sp>
      <p:sp>
        <p:nvSpPr>
          <p:cNvPr id="4" name="Text 2"/>
          <p:cNvSpPr/>
          <p:nvPr/>
        </p:nvSpPr>
        <p:spPr>
          <a:xfrm>
            <a:off x="640080" y="685800"/>
            <a:ext cx="914400" cy="292608"/>
          </a:xfrm>
          <a:prstGeom prst="rect">
            <a:avLst/>
          </a:prstGeom>
          <a:noFill/>
        </p:spPr>
        <p:txBody>
          <a:bodyPr wrap="square" rtlCol="0" anchor="ctr"/>
          <a:lstStyle/>
          <a:p>
            <a:pPr marL="0" indent="0" algn="ctr">
              <a:buNone/>
            </a:pPr>
            <a:r>
              <a:rPr lang="en-US" sz="1050" kern="0" spc="100"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CASP</a:t>
            </a:r>
            <a:endParaRPr lang="en-US" sz="1050" dirty="0"/>
          </a:p>
        </p:txBody>
      </p:sp>
      <p:sp>
        <p:nvSpPr>
          <p:cNvPr id="5" name="Text 3"/>
          <p:cNvSpPr/>
          <p:nvPr/>
        </p:nvSpPr>
        <p:spPr>
          <a:xfrm>
            <a:off x="1691640" y="685800"/>
            <a:ext cx="8229600" cy="292608"/>
          </a:xfrm>
          <a:prstGeom prst="rect">
            <a:avLst/>
          </a:prstGeom>
          <a:noFill/>
        </p:spPr>
        <p:txBody>
          <a:bodyPr wrap="square" rtlCol="0" anchor="ctr"/>
          <a:lstStyle/>
          <a:p>
            <a:pPr marL="0" indent="0">
              <a:buNone/>
            </a:pPr>
            <a:r>
              <a:rPr lang="en-US" sz="110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KAPPA-TEAM  ·  CLOUD BUILD WITH PEERS  ·  AKWANNYA HUB  ·  COHORT 1</a:t>
            </a:r>
            <a:endParaRPr lang="en-US" sz="1100" dirty="0"/>
          </a:p>
        </p:txBody>
      </p:sp>
      <p:sp>
        <p:nvSpPr>
          <p:cNvPr id="6" name="Text 4"/>
          <p:cNvSpPr/>
          <p:nvPr/>
        </p:nvSpPr>
        <p:spPr>
          <a:xfrm>
            <a:off x="640080" y="2148840"/>
            <a:ext cx="10515600" cy="914400"/>
          </a:xfrm>
          <a:prstGeom prst="rect">
            <a:avLst/>
          </a:prstGeom>
          <a:noFill/>
        </p:spPr>
        <p:txBody>
          <a:bodyPr wrap="square" rtlCol="0" anchor="ctr"/>
          <a:lstStyle/>
          <a:p>
            <a:pPr marL="0" indent="0">
              <a:buNone/>
            </a:pPr>
            <a:r>
              <a:rPr lang="en-US" sz="5200" b="1" dirty="0">
                <a:solidFill>
                  <a:srgbClr val="ECE6D8"/>
                </a:solidFill>
                <a:latin typeface="Cambria" panose="02040503050406030204" pitchFamily="34" charset="0"/>
                <a:ea typeface="Cambria" panose="02040503050406030204" pitchFamily="34" charset="-122"/>
                <a:cs typeface="Cambria" panose="02040503050406030204" pitchFamily="34" charset="-120"/>
              </a:rPr>
              <a:t>Cloud Assignment</a:t>
            </a:r>
            <a:endParaRPr lang="en-US" sz="5200" dirty="0"/>
          </a:p>
        </p:txBody>
      </p:sp>
      <p:sp>
        <p:nvSpPr>
          <p:cNvPr id="7" name="Text 5"/>
          <p:cNvSpPr/>
          <p:nvPr/>
        </p:nvSpPr>
        <p:spPr>
          <a:xfrm>
            <a:off x="640080" y="2880360"/>
            <a:ext cx="10515600" cy="914400"/>
          </a:xfrm>
          <a:prstGeom prst="rect">
            <a:avLst/>
          </a:prstGeom>
          <a:noFill/>
        </p:spPr>
        <p:txBody>
          <a:bodyPr wrap="square" rtlCol="0" anchor="ctr"/>
          <a:lstStyle/>
          <a:p>
            <a:pPr marL="0" indent="0">
              <a:buNone/>
            </a:pPr>
            <a:r>
              <a:rPr lang="en-US" sz="5200" b="1" dirty="0">
                <a:solidFill>
                  <a:srgbClr val="B5482E"/>
                </a:solidFill>
                <a:latin typeface="Cambria" panose="02040503050406030204" pitchFamily="34" charset="0"/>
                <a:ea typeface="Cambria" panose="02040503050406030204" pitchFamily="34" charset="-122"/>
                <a:cs typeface="Cambria" panose="02040503050406030204" pitchFamily="34" charset="-120"/>
              </a:rPr>
              <a:t>Submission Portal</a:t>
            </a:r>
            <a:endParaRPr lang="en-US" sz="5200" dirty="0"/>
          </a:p>
        </p:txBody>
      </p:sp>
      <p:sp>
        <p:nvSpPr>
          <p:cNvPr id="8" name="Text 6"/>
          <p:cNvSpPr/>
          <p:nvPr/>
        </p:nvSpPr>
        <p:spPr>
          <a:xfrm>
            <a:off x="640080" y="3977640"/>
            <a:ext cx="7863840" cy="822960"/>
          </a:xfrm>
          <a:prstGeom prst="rect">
            <a:avLst/>
          </a:prstGeom>
          <a:noFill/>
        </p:spPr>
        <p:txBody>
          <a:bodyPr wrap="square" rtlCol="0" anchor="ctr"/>
          <a:lstStyle/>
          <a:p>
            <a:pPr marL="0" indent="0">
              <a:lnSpc>
                <a:spcPts val="2100"/>
              </a:lnSpc>
              <a:buNone/>
            </a:pPr>
            <a:r>
              <a:rPr lang="en-US" sz="1500" dirty="0">
                <a:solidFill>
                  <a:srgbClr val="9AA7B3"/>
                </a:solidFill>
                <a:latin typeface="Calibri" panose="020F0502020204030204" pitchFamily="34" charset="0"/>
                <a:ea typeface="Calibri" panose="020F0502020204030204" pitchFamily="34" charset="-122"/>
                <a:cs typeface="Calibri" panose="020F0502020204030204" pitchFamily="34" charset="-120"/>
              </a:rPr>
              <a:t>A serverless intake desk on AWS — students drop assignments at one window, lecturers collect them at the other, and every file gets a timestamped, tamper-evident receipt.</a:t>
            </a:r>
            <a:endParaRPr lang="en-US" sz="1500" dirty="0"/>
          </a:p>
        </p:txBody>
      </p:sp>
      <p:sp>
        <p:nvSpPr>
          <p:cNvPr id="11" name="Text 9"/>
          <p:cNvSpPr/>
          <p:nvPr/>
        </p:nvSpPr>
        <p:spPr>
          <a:xfrm>
            <a:off x="457200" y="6528816"/>
            <a:ext cx="6400800" cy="274320"/>
          </a:xfrm>
          <a:prstGeom prst="rect">
            <a:avLst/>
          </a:prstGeom>
          <a:noFill/>
        </p:spPr>
        <p:txBody>
          <a:bodyPr wrap="square" rtlCol="0" anchor="ctr"/>
          <a:lstStyle/>
          <a:p>
            <a:pPr marL="0" indent="0">
              <a:buNone/>
            </a:pPr>
            <a:r>
              <a:rPr lang="en-US" sz="85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CLOUD ASSIGNMENT SUBMISSION PORTAL</a:t>
            </a:r>
            <a:endParaRPr lang="en-US" sz="850" dirty="0"/>
          </a:p>
        </p:txBody>
      </p:sp>
      <p:sp>
        <p:nvSpPr>
          <p:cNvPr id="12" name="Text 10"/>
          <p:cNvSpPr/>
          <p:nvPr/>
        </p:nvSpPr>
        <p:spPr>
          <a:xfrm>
            <a:off x="11274552" y="6528816"/>
            <a:ext cx="457200" cy="274320"/>
          </a:xfrm>
          <a:prstGeom prst="rect">
            <a:avLst/>
          </a:prstGeom>
          <a:noFill/>
        </p:spPr>
        <p:txBody>
          <a:bodyPr wrap="square" rtlCol="0" anchor="ctr"/>
          <a:lstStyle/>
          <a:p>
            <a:pPr marL="0" indent="0" algn="r">
              <a:buNone/>
            </a:pPr>
            <a:r>
              <a:rPr lang="en-US" sz="8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02920"/>
            <a:ext cx="1554480" cy="292608"/>
          </a:xfrm>
          <a:prstGeom prst="roundRect">
            <a:avLst>
              <a:gd name="adj" fmla="val 15625"/>
            </a:avLst>
          </a:prstGeom>
          <a:ln w="12700">
            <a:solidFill>
              <a:srgbClr val="B5482E"/>
            </a:solidFill>
            <a:prstDash val="solid"/>
          </a:ln>
        </p:spPr>
      </p:sp>
      <p:sp>
        <p:nvSpPr>
          <p:cNvPr id="3" name="Text 1"/>
          <p:cNvSpPr/>
          <p:nvPr/>
        </p:nvSpPr>
        <p:spPr>
          <a:xfrm>
            <a:off x="640080" y="502920"/>
            <a:ext cx="1554480" cy="292608"/>
          </a:xfrm>
          <a:prstGeom prst="rect">
            <a:avLst/>
          </a:prstGeom>
          <a:noFill/>
        </p:spPr>
        <p:txBody>
          <a:bodyPr wrap="square" rtlCol="0" anchor="ctr"/>
          <a:lstStyle/>
          <a:p>
            <a:pPr marL="0" indent="0" algn="ctr">
              <a:buNone/>
            </a:pPr>
            <a:r>
              <a:rPr lang="en-US" sz="1050" kern="0" spc="100"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01 · PROBLEM</a:t>
            </a:r>
            <a:endParaRPr lang="en-US" sz="1050" dirty="0"/>
          </a:p>
        </p:txBody>
      </p:sp>
      <p:sp>
        <p:nvSpPr>
          <p:cNvPr id="4" name="Text 2"/>
          <p:cNvSpPr/>
          <p:nvPr/>
        </p:nvSpPr>
        <p:spPr>
          <a:xfrm>
            <a:off x="640080" y="914400"/>
            <a:ext cx="10515600" cy="1188720"/>
          </a:xfrm>
          <a:prstGeom prst="rect">
            <a:avLst/>
          </a:prstGeom>
          <a:noFill/>
        </p:spPr>
        <p:txBody>
          <a:bodyPr wrap="square" rtlCol="0" anchor="ctr"/>
          <a:lstStyle/>
          <a:p>
            <a:pPr marL="0" indent="0">
              <a:lnSpc>
                <a:spcPts val="3400"/>
              </a:lnSpc>
              <a:buNone/>
            </a:pPr>
            <a:r>
              <a:rPr lang="en-US" sz="3000" b="1" dirty="0">
                <a:solidFill>
                  <a:srgbClr val="ECE6D8"/>
                </a:solidFill>
                <a:latin typeface="Cambria" panose="02040503050406030204" pitchFamily="34" charset="0"/>
                <a:ea typeface="Cambria" panose="02040503050406030204" pitchFamily="34" charset="-122"/>
                <a:cs typeface="Cambria" panose="02040503050406030204" pitchFamily="34" charset="-120"/>
              </a:rPr>
              <a:t>Submissions still travel by</a:t>
            </a:r>
            <a:endParaRPr lang="en-US" sz="3000" dirty="0"/>
          </a:p>
          <a:p>
            <a:pPr marL="0" indent="0">
              <a:lnSpc>
                <a:spcPts val="3400"/>
              </a:lnSpc>
              <a:buNone/>
            </a:pPr>
            <a:r>
              <a:rPr lang="en-US" sz="3000" b="1" dirty="0">
                <a:solidFill>
                  <a:srgbClr val="ECE6D8"/>
                </a:solidFill>
                <a:latin typeface="Cambria" panose="02040503050406030204" pitchFamily="34" charset="0"/>
                <a:ea typeface="Cambria" panose="02040503050406030204" pitchFamily="34" charset="-122"/>
                <a:cs typeface="Cambria" panose="02040503050406030204" pitchFamily="34" charset="-120"/>
              </a:rPr>
              <a:t>WhatsApp, email and flash drive</a:t>
            </a:r>
            <a:endParaRPr lang="en-US" sz="3000" dirty="0"/>
          </a:p>
        </p:txBody>
      </p:sp>
      <p:sp>
        <p:nvSpPr>
          <p:cNvPr id="5" name="Shape 3"/>
          <p:cNvSpPr/>
          <p:nvPr/>
        </p:nvSpPr>
        <p:spPr>
          <a:xfrm>
            <a:off x="640080" y="2514600"/>
            <a:ext cx="566928" cy="566928"/>
          </a:xfrm>
          <a:prstGeom prst="ellipse">
            <a:avLst/>
          </a:prstGeom>
          <a:solidFill>
            <a:srgbClr val="B5482E"/>
          </a:solidFill>
        </p:spPr>
      </p:sp>
      <p:pic>
        <p:nvPicPr>
          <p:cNvPr id="6" name="Image 0" descr="/home/claude/icons/route_cream.png"/>
          <p:cNvPicPr>
            <a:picLocks noChangeAspect="1"/>
          </p:cNvPicPr>
          <p:nvPr/>
        </p:nvPicPr>
        <p:blipFill>
          <a:blip r:embed="rId1"/>
          <a:stretch>
            <a:fillRect/>
          </a:stretch>
        </p:blipFill>
        <p:spPr>
          <a:xfrm>
            <a:off x="713781" y="2588301"/>
            <a:ext cx="419527" cy="419527"/>
          </a:xfrm>
          <a:prstGeom prst="rect">
            <a:avLst/>
          </a:prstGeom>
        </p:spPr>
      </p:pic>
      <p:sp>
        <p:nvSpPr>
          <p:cNvPr id="7" name="Text 4"/>
          <p:cNvSpPr/>
          <p:nvPr/>
        </p:nvSpPr>
        <p:spPr>
          <a:xfrm>
            <a:off x="1389888" y="2468880"/>
            <a:ext cx="4325112" cy="365760"/>
          </a:xfrm>
          <a:prstGeom prst="rect">
            <a:avLst/>
          </a:prstGeom>
          <a:noFill/>
        </p:spPr>
        <p:txBody>
          <a:bodyPr wrap="square" rtlCol="0" anchor="ctr"/>
          <a:lstStyle/>
          <a:p>
            <a:pPr marL="0" indent="0">
              <a:buNone/>
            </a:pPr>
            <a:r>
              <a:rPr lang="en-US" sz="1650" b="1" dirty="0">
                <a:solidFill>
                  <a:srgbClr val="ECE6D8"/>
                </a:solidFill>
                <a:latin typeface="Cambria" panose="02040503050406030204" pitchFamily="34" charset="0"/>
                <a:ea typeface="Cambria" panose="02040503050406030204" pitchFamily="34" charset="-122"/>
                <a:cs typeface="Cambria" panose="02040503050406030204" pitchFamily="34" charset="-120"/>
              </a:rPr>
              <a:t>No single record</a:t>
            </a:r>
            <a:endParaRPr lang="en-US" sz="1650" dirty="0"/>
          </a:p>
        </p:txBody>
      </p:sp>
      <p:sp>
        <p:nvSpPr>
          <p:cNvPr id="8" name="Text 5"/>
          <p:cNvSpPr/>
          <p:nvPr/>
        </p:nvSpPr>
        <p:spPr>
          <a:xfrm>
            <a:off x="1389888" y="2862072"/>
            <a:ext cx="4325112" cy="914400"/>
          </a:xfrm>
          <a:prstGeom prst="rect">
            <a:avLst/>
          </a:prstGeom>
          <a:noFill/>
        </p:spPr>
        <p:txBody>
          <a:bodyPr wrap="square" rtlCol="0" anchor="ctr"/>
          <a:lstStyle/>
          <a:p>
            <a:pPr marL="0" indent="0">
              <a:lnSpc>
                <a:spcPts val="1600"/>
              </a:lnSpc>
              <a:buNone/>
            </a:pPr>
            <a:r>
              <a:rPr lang="en-US" sz="1250" dirty="0">
                <a:solidFill>
                  <a:srgbClr val="9AA7B3"/>
                </a:solidFill>
                <a:latin typeface="Calibri" panose="020F0502020204030204" pitchFamily="34" charset="0"/>
                <a:ea typeface="Calibri" panose="020F0502020204030204" pitchFamily="34" charset="-122"/>
                <a:cs typeface="Calibri" panose="020F0502020204030204" pitchFamily="34" charset="-120"/>
              </a:rPr>
              <a:t>Files scatter across chats, inboxes and USB sticks with no shared trail.</a:t>
            </a:r>
            <a:endParaRPr lang="en-US" sz="1250" dirty="0"/>
          </a:p>
        </p:txBody>
      </p:sp>
      <p:sp>
        <p:nvSpPr>
          <p:cNvPr id="9" name="Shape 6"/>
          <p:cNvSpPr/>
          <p:nvPr/>
        </p:nvSpPr>
        <p:spPr>
          <a:xfrm>
            <a:off x="6080760" y="2514600"/>
            <a:ext cx="566928" cy="566928"/>
          </a:xfrm>
          <a:prstGeom prst="ellipse">
            <a:avLst/>
          </a:prstGeom>
          <a:solidFill>
            <a:srgbClr val="B5482E"/>
          </a:solidFill>
        </p:spPr>
      </p:sp>
      <p:pic>
        <p:nvPicPr>
          <p:cNvPr id="10" name="Image 1" descr="/home/claude/icons/search_cream.png"/>
          <p:cNvPicPr>
            <a:picLocks noChangeAspect="1"/>
          </p:cNvPicPr>
          <p:nvPr/>
        </p:nvPicPr>
        <p:blipFill>
          <a:blip r:embed="rId2"/>
          <a:stretch>
            <a:fillRect/>
          </a:stretch>
        </p:blipFill>
        <p:spPr>
          <a:xfrm>
            <a:off x="6154461" y="2588301"/>
            <a:ext cx="419527" cy="419527"/>
          </a:xfrm>
          <a:prstGeom prst="rect">
            <a:avLst/>
          </a:prstGeom>
        </p:spPr>
      </p:pic>
      <p:sp>
        <p:nvSpPr>
          <p:cNvPr id="11" name="Text 7"/>
          <p:cNvSpPr/>
          <p:nvPr/>
        </p:nvSpPr>
        <p:spPr>
          <a:xfrm>
            <a:off x="6830568" y="2468880"/>
            <a:ext cx="4325112" cy="365760"/>
          </a:xfrm>
          <a:prstGeom prst="rect">
            <a:avLst/>
          </a:prstGeom>
          <a:noFill/>
        </p:spPr>
        <p:txBody>
          <a:bodyPr wrap="square" rtlCol="0" anchor="ctr"/>
          <a:lstStyle/>
          <a:p>
            <a:pPr marL="0" indent="0">
              <a:buNone/>
            </a:pPr>
            <a:r>
              <a:rPr lang="en-US" sz="1650" b="1" dirty="0">
                <a:solidFill>
                  <a:srgbClr val="ECE6D8"/>
                </a:solidFill>
                <a:latin typeface="Cambria" panose="02040503050406030204" pitchFamily="34" charset="0"/>
                <a:ea typeface="Cambria" panose="02040503050406030204" pitchFamily="34" charset="-122"/>
                <a:cs typeface="Cambria" panose="02040503050406030204" pitchFamily="34" charset="-120"/>
              </a:rPr>
              <a:t>Nothing to search</a:t>
            </a:r>
            <a:endParaRPr lang="en-US" sz="1650" dirty="0"/>
          </a:p>
        </p:txBody>
      </p:sp>
      <p:sp>
        <p:nvSpPr>
          <p:cNvPr id="12" name="Text 8"/>
          <p:cNvSpPr/>
          <p:nvPr/>
        </p:nvSpPr>
        <p:spPr>
          <a:xfrm>
            <a:off x="6830568" y="2862072"/>
            <a:ext cx="4325112" cy="914400"/>
          </a:xfrm>
          <a:prstGeom prst="rect">
            <a:avLst/>
          </a:prstGeom>
          <a:noFill/>
        </p:spPr>
        <p:txBody>
          <a:bodyPr wrap="square" rtlCol="0" anchor="ctr"/>
          <a:lstStyle/>
          <a:p>
            <a:pPr marL="0" indent="0">
              <a:lnSpc>
                <a:spcPts val="1600"/>
              </a:lnSpc>
              <a:buNone/>
            </a:pPr>
            <a:r>
              <a:rPr lang="en-US" sz="1250" dirty="0">
                <a:solidFill>
                  <a:srgbClr val="9AA7B3"/>
                </a:solidFill>
                <a:latin typeface="Calibri" panose="020F0502020204030204" pitchFamily="34" charset="0"/>
                <a:ea typeface="Calibri" panose="020F0502020204030204" pitchFamily="34" charset="-122"/>
                <a:cs typeface="Calibri" panose="020F0502020204030204" pitchFamily="34" charset="-120"/>
              </a:rPr>
              <a:t>Finding one student's file among hundreds of messages wastes real class time.</a:t>
            </a:r>
            <a:endParaRPr lang="en-US" sz="1250" dirty="0"/>
          </a:p>
        </p:txBody>
      </p:sp>
      <p:sp>
        <p:nvSpPr>
          <p:cNvPr id="13" name="Shape 9"/>
          <p:cNvSpPr/>
          <p:nvPr/>
        </p:nvSpPr>
        <p:spPr>
          <a:xfrm>
            <a:off x="640080" y="4251960"/>
            <a:ext cx="566928" cy="566928"/>
          </a:xfrm>
          <a:prstGeom prst="ellipse">
            <a:avLst/>
          </a:prstGeom>
          <a:solidFill>
            <a:srgbClr val="B5482E"/>
          </a:solidFill>
        </p:spPr>
      </p:sp>
      <p:pic>
        <p:nvPicPr>
          <p:cNvPr id="14" name="Image 2" descr="/home/claude/icons/shield_cream.png"/>
          <p:cNvPicPr>
            <a:picLocks noChangeAspect="1"/>
          </p:cNvPicPr>
          <p:nvPr/>
        </p:nvPicPr>
        <p:blipFill>
          <a:blip r:embed="rId3"/>
          <a:stretch>
            <a:fillRect/>
          </a:stretch>
        </p:blipFill>
        <p:spPr>
          <a:xfrm>
            <a:off x="713781" y="4325661"/>
            <a:ext cx="419527" cy="419527"/>
          </a:xfrm>
          <a:prstGeom prst="rect">
            <a:avLst/>
          </a:prstGeom>
        </p:spPr>
      </p:pic>
      <p:sp>
        <p:nvSpPr>
          <p:cNvPr id="15" name="Text 10"/>
          <p:cNvSpPr/>
          <p:nvPr/>
        </p:nvSpPr>
        <p:spPr>
          <a:xfrm>
            <a:off x="1389888" y="4206240"/>
            <a:ext cx="4325112" cy="365760"/>
          </a:xfrm>
          <a:prstGeom prst="rect">
            <a:avLst/>
          </a:prstGeom>
          <a:noFill/>
        </p:spPr>
        <p:txBody>
          <a:bodyPr wrap="square" rtlCol="0" anchor="ctr"/>
          <a:lstStyle/>
          <a:p>
            <a:pPr marL="0" indent="0">
              <a:buNone/>
            </a:pPr>
            <a:r>
              <a:rPr lang="en-US" sz="1650" b="1" dirty="0">
                <a:solidFill>
                  <a:srgbClr val="ECE6D8"/>
                </a:solidFill>
                <a:latin typeface="Cambria" panose="02040503050406030204" pitchFamily="34" charset="0"/>
                <a:ea typeface="Cambria" panose="02040503050406030204" pitchFamily="34" charset="-122"/>
                <a:cs typeface="Cambria" panose="02040503050406030204" pitchFamily="34" charset="-120"/>
              </a:rPr>
              <a:t>No proof of submission</a:t>
            </a:r>
            <a:endParaRPr lang="en-US" sz="1650" dirty="0"/>
          </a:p>
        </p:txBody>
      </p:sp>
      <p:sp>
        <p:nvSpPr>
          <p:cNvPr id="16" name="Text 11"/>
          <p:cNvSpPr/>
          <p:nvPr/>
        </p:nvSpPr>
        <p:spPr>
          <a:xfrm>
            <a:off x="1389888" y="4599432"/>
            <a:ext cx="4325112" cy="914400"/>
          </a:xfrm>
          <a:prstGeom prst="rect">
            <a:avLst/>
          </a:prstGeom>
          <a:noFill/>
        </p:spPr>
        <p:txBody>
          <a:bodyPr wrap="square" rtlCol="0" anchor="ctr"/>
          <a:lstStyle/>
          <a:p>
            <a:pPr marL="0" indent="0">
              <a:lnSpc>
                <a:spcPts val="1600"/>
              </a:lnSpc>
              <a:buNone/>
            </a:pPr>
            <a:r>
              <a:rPr lang="en-US" sz="1250" dirty="0">
                <a:solidFill>
                  <a:srgbClr val="9AA7B3"/>
                </a:solidFill>
                <a:latin typeface="Calibri" panose="020F0502020204030204" pitchFamily="34" charset="0"/>
                <a:ea typeface="Calibri" panose="020F0502020204030204" pitchFamily="34" charset="-122"/>
                <a:cs typeface="Calibri" panose="020F0502020204030204" pitchFamily="34" charset="-120"/>
              </a:rPr>
              <a:t>“I sent it” is unverifiable — there's no timestamp, no receipt, no audit log.</a:t>
            </a:r>
            <a:endParaRPr lang="en-US" sz="1250" dirty="0"/>
          </a:p>
        </p:txBody>
      </p:sp>
      <p:sp>
        <p:nvSpPr>
          <p:cNvPr id="17" name="Shape 12"/>
          <p:cNvSpPr/>
          <p:nvPr/>
        </p:nvSpPr>
        <p:spPr>
          <a:xfrm>
            <a:off x="6080760" y="4251960"/>
            <a:ext cx="566928" cy="566928"/>
          </a:xfrm>
          <a:prstGeom prst="ellipse">
            <a:avLst/>
          </a:prstGeom>
          <a:solidFill>
            <a:srgbClr val="B5482E"/>
          </a:solidFill>
        </p:spPr>
      </p:sp>
      <p:pic>
        <p:nvPicPr>
          <p:cNvPr id="18" name="Image 3" descr="/home/claude/icons/history_cream.png"/>
          <p:cNvPicPr>
            <a:picLocks noChangeAspect="1"/>
          </p:cNvPicPr>
          <p:nvPr/>
        </p:nvPicPr>
        <p:blipFill>
          <a:blip r:embed="rId4"/>
          <a:stretch>
            <a:fillRect/>
          </a:stretch>
        </p:blipFill>
        <p:spPr>
          <a:xfrm>
            <a:off x="6154461" y="4325661"/>
            <a:ext cx="419527" cy="419527"/>
          </a:xfrm>
          <a:prstGeom prst="rect">
            <a:avLst/>
          </a:prstGeom>
        </p:spPr>
      </p:pic>
      <p:sp>
        <p:nvSpPr>
          <p:cNvPr id="19" name="Text 13"/>
          <p:cNvSpPr/>
          <p:nvPr/>
        </p:nvSpPr>
        <p:spPr>
          <a:xfrm>
            <a:off x="6830568" y="4206240"/>
            <a:ext cx="4325112" cy="365760"/>
          </a:xfrm>
          <a:prstGeom prst="rect">
            <a:avLst/>
          </a:prstGeom>
          <a:noFill/>
        </p:spPr>
        <p:txBody>
          <a:bodyPr wrap="square" rtlCol="0" anchor="ctr"/>
          <a:lstStyle/>
          <a:p>
            <a:pPr marL="0" indent="0">
              <a:buNone/>
            </a:pPr>
            <a:r>
              <a:rPr lang="en-US" sz="1650" b="1" dirty="0">
                <a:solidFill>
                  <a:srgbClr val="ECE6D8"/>
                </a:solidFill>
                <a:latin typeface="Cambria" panose="02040503050406030204" pitchFamily="34" charset="0"/>
                <a:ea typeface="Cambria" panose="02040503050406030204" pitchFamily="34" charset="-122"/>
                <a:cs typeface="Cambria" panose="02040503050406030204" pitchFamily="34" charset="-120"/>
              </a:rPr>
              <a:t>Nothing to build on</a:t>
            </a:r>
            <a:endParaRPr lang="en-US" sz="1650" dirty="0"/>
          </a:p>
        </p:txBody>
      </p:sp>
      <p:sp>
        <p:nvSpPr>
          <p:cNvPr id="20" name="Text 14"/>
          <p:cNvSpPr/>
          <p:nvPr/>
        </p:nvSpPr>
        <p:spPr>
          <a:xfrm>
            <a:off x="6830568" y="4599432"/>
            <a:ext cx="4325112" cy="914400"/>
          </a:xfrm>
          <a:prstGeom prst="rect">
            <a:avLst/>
          </a:prstGeom>
          <a:noFill/>
        </p:spPr>
        <p:txBody>
          <a:bodyPr wrap="square" rtlCol="0" anchor="ctr"/>
          <a:lstStyle/>
          <a:p>
            <a:pPr marL="0" indent="0">
              <a:lnSpc>
                <a:spcPts val="1600"/>
              </a:lnSpc>
              <a:buNone/>
            </a:pPr>
            <a:r>
              <a:rPr lang="en-US" sz="1250" dirty="0">
                <a:solidFill>
                  <a:srgbClr val="9AA7B3"/>
                </a:solidFill>
                <a:latin typeface="Calibri" panose="020F0502020204030204" pitchFamily="34" charset="0"/>
                <a:ea typeface="Calibri" panose="020F0502020204030204" pitchFamily="34" charset="-122"/>
                <a:cs typeface="Calibri" panose="020F0502020204030204" pitchFamily="34" charset="-120"/>
              </a:rPr>
              <a:t>Deadlines, versioning and grading history all have to be tracked by hand.</a:t>
            </a:r>
            <a:endParaRPr lang="en-US" sz="1250" dirty="0"/>
          </a:p>
        </p:txBody>
      </p:sp>
      <p:sp>
        <p:nvSpPr>
          <p:cNvPr id="21" name="Text 15"/>
          <p:cNvSpPr/>
          <p:nvPr/>
        </p:nvSpPr>
        <p:spPr>
          <a:xfrm>
            <a:off x="457200" y="6528816"/>
            <a:ext cx="6400800" cy="274320"/>
          </a:xfrm>
          <a:prstGeom prst="rect">
            <a:avLst/>
          </a:prstGeom>
          <a:noFill/>
        </p:spPr>
        <p:txBody>
          <a:bodyPr wrap="square" rtlCol="0" anchor="ctr"/>
          <a:lstStyle/>
          <a:p>
            <a:pPr marL="0" indent="0">
              <a:buNone/>
            </a:pPr>
            <a:r>
              <a:rPr lang="en-US" sz="85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CLOUD ASSIGNMENT SUBMISSION PORTAL</a:t>
            </a:r>
            <a:endParaRPr lang="en-US" sz="850" dirty="0"/>
          </a:p>
        </p:txBody>
      </p:sp>
      <p:sp>
        <p:nvSpPr>
          <p:cNvPr id="22" name="Text 16"/>
          <p:cNvSpPr/>
          <p:nvPr/>
        </p:nvSpPr>
        <p:spPr>
          <a:xfrm>
            <a:off x="11274552" y="6528816"/>
            <a:ext cx="457200" cy="274320"/>
          </a:xfrm>
          <a:prstGeom prst="rect">
            <a:avLst/>
          </a:prstGeom>
          <a:noFill/>
        </p:spPr>
        <p:txBody>
          <a:bodyPr wrap="square" rtlCol="0" anchor="ctr"/>
          <a:lstStyle/>
          <a:p>
            <a:pPr marL="0" indent="0" algn="r">
              <a:buNone/>
            </a:pPr>
            <a:r>
              <a:rPr lang="en-US" sz="8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02920"/>
            <a:ext cx="1645920" cy="292608"/>
          </a:xfrm>
          <a:prstGeom prst="roundRect">
            <a:avLst>
              <a:gd name="adj" fmla="val 15625"/>
            </a:avLst>
          </a:prstGeom>
          <a:ln w="12700">
            <a:solidFill>
              <a:srgbClr val="B5482E"/>
            </a:solidFill>
            <a:prstDash val="solid"/>
          </a:ln>
        </p:spPr>
      </p:sp>
      <p:sp>
        <p:nvSpPr>
          <p:cNvPr id="3" name="Text 1"/>
          <p:cNvSpPr/>
          <p:nvPr/>
        </p:nvSpPr>
        <p:spPr>
          <a:xfrm>
            <a:off x="640080" y="502920"/>
            <a:ext cx="1645920" cy="292608"/>
          </a:xfrm>
          <a:prstGeom prst="rect">
            <a:avLst/>
          </a:prstGeom>
          <a:noFill/>
        </p:spPr>
        <p:txBody>
          <a:bodyPr wrap="square" rtlCol="0" anchor="ctr"/>
          <a:lstStyle/>
          <a:p>
            <a:pPr marL="0" indent="0" algn="ctr">
              <a:buNone/>
            </a:pPr>
            <a:r>
              <a:rPr lang="en-US" sz="1050" kern="0" spc="100"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02 · SOLUTION</a:t>
            </a:r>
            <a:endParaRPr lang="en-US" sz="1050" dirty="0"/>
          </a:p>
        </p:txBody>
      </p:sp>
      <p:sp>
        <p:nvSpPr>
          <p:cNvPr id="4" name="Text 2"/>
          <p:cNvSpPr/>
          <p:nvPr/>
        </p:nvSpPr>
        <p:spPr>
          <a:xfrm>
            <a:off x="640080" y="914400"/>
            <a:ext cx="6035040" cy="822960"/>
          </a:xfrm>
          <a:prstGeom prst="rect">
            <a:avLst/>
          </a:prstGeom>
          <a:noFill/>
        </p:spPr>
        <p:txBody>
          <a:bodyPr wrap="square" rtlCol="0" anchor="ctr"/>
          <a:lstStyle/>
          <a:p>
            <a:pPr marL="0" indent="0">
              <a:buNone/>
            </a:pPr>
            <a:r>
              <a:rPr lang="en-US" sz="2800" b="1" dirty="0">
                <a:solidFill>
                  <a:srgbClr val="ECE6D8"/>
                </a:solidFill>
                <a:latin typeface="Cambria" panose="02040503050406030204" pitchFamily="34" charset="0"/>
                <a:ea typeface="Cambria" panose="02040503050406030204" pitchFamily="34" charset="-122"/>
                <a:cs typeface="Cambria" panose="02040503050406030204" pitchFamily="34" charset="-120"/>
              </a:rPr>
              <a:t>One desk, two counter windows</a:t>
            </a:r>
            <a:endParaRPr lang="en-US" sz="2800" dirty="0"/>
          </a:p>
        </p:txBody>
      </p:sp>
      <p:sp>
        <p:nvSpPr>
          <p:cNvPr id="5" name="Text 3"/>
          <p:cNvSpPr/>
          <p:nvPr/>
        </p:nvSpPr>
        <p:spPr>
          <a:xfrm>
            <a:off x="640080" y="1691640"/>
            <a:ext cx="5394960" cy="2103120"/>
          </a:xfrm>
          <a:prstGeom prst="rect">
            <a:avLst/>
          </a:prstGeom>
          <a:noFill/>
        </p:spPr>
        <p:txBody>
          <a:bodyPr wrap="square" rtlCol="0" anchor="ctr"/>
          <a:lstStyle/>
          <a:p>
            <a:pPr marL="0" indent="0">
              <a:lnSpc>
                <a:spcPts val="1900"/>
              </a:lnSpc>
              <a:buNone/>
            </a:pPr>
            <a:r>
              <a:rPr lang="en-US" sz="1350" dirty="0">
                <a:solidFill>
                  <a:srgbClr val="9AA7B3"/>
                </a:solidFill>
                <a:latin typeface="Calibri" panose="020F0502020204030204" pitchFamily="34" charset="0"/>
                <a:ea typeface="Calibri" panose="020F0502020204030204" pitchFamily="34" charset="-122"/>
                <a:cs typeface="Calibri" panose="020F0502020204030204" pitchFamily="34" charset="-120"/>
              </a:rPr>
              <a:t>CASP models a real intake desk: students hand off work at the Submission Window and get a stamped receipt back; lecturers collect and review everything at the Lecturer Window. No app to install, no manual filing — the desk runs itself on serverless AWS services.</a:t>
            </a:r>
            <a:endParaRPr lang="en-US" sz="1350" dirty="0"/>
          </a:p>
        </p:txBody>
      </p:sp>
      <p:sp>
        <p:nvSpPr>
          <p:cNvPr id="6" name="Shape 4"/>
          <p:cNvSpPr/>
          <p:nvPr/>
        </p:nvSpPr>
        <p:spPr>
          <a:xfrm>
            <a:off x="640080" y="3977640"/>
            <a:ext cx="457200" cy="457200"/>
          </a:xfrm>
          <a:prstGeom prst="ellipse">
            <a:avLst/>
          </a:prstGeom>
          <a:solidFill>
            <a:srgbClr val="C9A227"/>
          </a:solidFill>
        </p:spPr>
      </p:sp>
      <p:pic>
        <p:nvPicPr>
          <p:cNvPr id="7" name="Image 0" descr="/home/claude/icons/key_ink.png"/>
          <p:cNvPicPr>
            <a:picLocks noChangeAspect="1"/>
          </p:cNvPicPr>
          <p:nvPr/>
        </p:nvPicPr>
        <p:blipFill>
          <a:blip r:embed="rId1"/>
          <a:stretch>
            <a:fillRect/>
          </a:stretch>
        </p:blipFill>
        <p:spPr>
          <a:xfrm>
            <a:off x="699516" y="4037076"/>
            <a:ext cx="338328" cy="338328"/>
          </a:xfrm>
          <a:prstGeom prst="rect">
            <a:avLst/>
          </a:prstGeom>
        </p:spPr>
      </p:pic>
      <p:sp>
        <p:nvSpPr>
          <p:cNvPr id="8" name="Text 5"/>
          <p:cNvSpPr/>
          <p:nvPr/>
        </p:nvSpPr>
        <p:spPr>
          <a:xfrm>
            <a:off x="1234440" y="3950208"/>
            <a:ext cx="4800600" cy="685800"/>
          </a:xfrm>
          <a:prstGeom prst="rect">
            <a:avLst/>
          </a:prstGeom>
          <a:noFill/>
        </p:spPr>
        <p:txBody>
          <a:bodyPr wrap="square" rtlCol="0" anchor="ctr"/>
          <a:lstStyle/>
          <a:p>
            <a:pPr marL="0" indent="0">
              <a:lnSpc>
                <a:spcPts val="1500"/>
              </a:lnSpc>
              <a:buNone/>
            </a:pPr>
            <a:r>
              <a:rPr lang="en-US" sz="1200" dirty="0">
                <a:solidFill>
                  <a:srgbClr val="9AA7B3"/>
                </a:solidFill>
                <a:latin typeface="Calibri" panose="020F0502020204030204" pitchFamily="34" charset="0"/>
                <a:ea typeface="Calibri" panose="020F0502020204030204" pitchFamily="34" charset="-122"/>
                <a:cs typeface="Calibri" panose="020F0502020204030204" pitchFamily="34" charset="-120"/>
              </a:rPr>
              <a:t>Every submission is addressed with a unique ID the student keeps as proof of drop-off.</a:t>
            </a:r>
            <a:endParaRPr lang="en-US" sz="1200" dirty="0"/>
          </a:p>
        </p:txBody>
      </p:sp>
      <p:sp>
        <p:nvSpPr>
          <p:cNvPr id="9" name="Shape 6"/>
          <p:cNvSpPr/>
          <p:nvPr/>
        </p:nvSpPr>
        <p:spPr>
          <a:xfrm>
            <a:off x="6400800" y="1691640"/>
            <a:ext cx="5212080" cy="1965960"/>
          </a:xfrm>
          <a:prstGeom prst="roundRect">
            <a:avLst>
              <a:gd name="adj" fmla="val 2791"/>
            </a:avLst>
          </a:prstGeom>
          <a:solidFill>
            <a:srgbClr val="1B2430"/>
          </a:solidFill>
          <a:ln w="12700">
            <a:solidFill>
              <a:srgbClr val="2A3644"/>
            </a:solidFill>
            <a:prstDash val="solid"/>
          </a:ln>
        </p:spPr>
      </p:sp>
      <p:sp>
        <p:nvSpPr>
          <p:cNvPr id="10" name="Text 7"/>
          <p:cNvSpPr/>
          <p:nvPr/>
        </p:nvSpPr>
        <p:spPr>
          <a:xfrm>
            <a:off x="6675120" y="1892808"/>
            <a:ext cx="2011680" cy="274320"/>
          </a:xfrm>
          <a:prstGeom prst="rect">
            <a:avLst/>
          </a:prstGeom>
          <a:noFill/>
        </p:spPr>
        <p:txBody>
          <a:bodyPr wrap="square" rtlCol="0" anchor="ctr"/>
          <a:lstStyle/>
          <a:p>
            <a:pPr marL="0" indent="0">
              <a:buNone/>
            </a:pPr>
            <a:r>
              <a:rPr lang="en-US" sz="100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WINDOW 01</a:t>
            </a:r>
            <a:endParaRPr lang="en-US" sz="1000" dirty="0"/>
          </a:p>
        </p:txBody>
      </p:sp>
      <p:sp>
        <p:nvSpPr>
          <p:cNvPr id="11" name="Shape 8"/>
          <p:cNvSpPr/>
          <p:nvPr/>
        </p:nvSpPr>
        <p:spPr>
          <a:xfrm>
            <a:off x="10744200" y="1947672"/>
            <a:ext cx="548640" cy="548640"/>
          </a:xfrm>
          <a:prstGeom prst="ellipse">
            <a:avLst/>
          </a:prstGeom>
          <a:solidFill>
            <a:srgbClr val="B5482E"/>
          </a:solidFill>
        </p:spPr>
      </p:sp>
      <p:pic>
        <p:nvPicPr>
          <p:cNvPr id="12" name="Image 1" descr="/home/claude/icons/cloud_upload_cream.png"/>
          <p:cNvPicPr>
            <a:picLocks noChangeAspect="1"/>
          </p:cNvPicPr>
          <p:nvPr/>
        </p:nvPicPr>
        <p:blipFill>
          <a:blip r:embed="rId2"/>
          <a:stretch>
            <a:fillRect/>
          </a:stretch>
        </p:blipFill>
        <p:spPr>
          <a:xfrm>
            <a:off x="10815523" y="2018995"/>
            <a:ext cx="405994" cy="405994"/>
          </a:xfrm>
          <a:prstGeom prst="rect">
            <a:avLst/>
          </a:prstGeom>
        </p:spPr>
      </p:pic>
      <p:sp>
        <p:nvSpPr>
          <p:cNvPr id="13" name="Text 9"/>
          <p:cNvSpPr/>
          <p:nvPr/>
        </p:nvSpPr>
        <p:spPr>
          <a:xfrm>
            <a:off x="6675120" y="2221992"/>
            <a:ext cx="4023360" cy="411480"/>
          </a:xfrm>
          <a:prstGeom prst="rect">
            <a:avLst/>
          </a:prstGeom>
          <a:noFill/>
        </p:spPr>
        <p:txBody>
          <a:bodyPr wrap="square" rtlCol="0" anchor="ctr"/>
          <a:lstStyle/>
          <a:p>
            <a:pPr marL="0" indent="0">
              <a:buNone/>
            </a:pPr>
            <a:r>
              <a:rPr lang="en-US" sz="1800" b="1" dirty="0">
                <a:solidFill>
                  <a:srgbClr val="ECE6D8"/>
                </a:solidFill>
                <a:latin typeface="Cambria" panose="02040503050406030204" pitchFamily="34" charset="0"/>
                <a:ea typeface="Cambria" panose="02040503050406030204" pitchFamily="34" charset="-122"/>
                <a:cs typeface="Cambria" panose="02040503050406030204" pitchFamily="34" charset="-120"/>
              </a:rPr>
              <a:t>Submission Window</a:t>
            </a:r>
            <a:endParaRPr lang="en-US" sz="1800" dirty="0"/>
          </a:p>
        </p:txBody>
      </p:sp>
      <p:sp>
        <p:nvSpPr>
          <p:cNvPr id="14" name="Text 10"/>
          <p:cNvSpPr/>
          <p:nvPr/>
        </p:nvSpPr>
        <p:spPr>
          <a:xfrm>
            <a:off x="6675120" y="2651760"/>
            <a:ext cx="4023360" cy="822960"/>
          </a:xfrm>
          <a:prstGeom prst="rect">
            <a:avLst/>
          </a:prstGeom>
          <a:noFill/>
        </p:spPr>
        <p:txBody>
          <a:bodyPr wrap="square" rtlCol="0" anchor="ctr"/>
          <a:lstStyle/>
          <a:p>
            <a:pPr marL="0" indent="0">
              <a:lnSpc>
                <a:spcPts val="1500"/>
              </a:lnSpc>
              <a:buNone/>
            </a:pPr>
            <a:r>
              <a:rPr lang="en-US" sz="1200" dirty="0">
                <a:solidFill>
                  <a:srgbClr val="9AA7B3"/>
                </a:solidFill>
                <a:latin typeface="Calibri" panose="020F0502020204030204" pitchFamily="34" charset="0"/>
                <a:ea typeface="Calibri" panose="020F0502020204030204" pitchFamily="34" charset="-122"/>
                <a:cs typeface="Calibri" panose="020F0502020204030204" pitchFamily="34" charset="-120"/>
              </a:rPr>
              <a:t>Students attach a file, fill a short slip, and stamp it in.</a:t>
            </a:r>
            <a:endParaRPr lang="en-US" sz="1200" dirty="0"/>
          </a:p>
        </p:txBody>
      </p:sp>
      <p:sp>
        <p:nvSpPr>
          <p:cNvPr id="15" name="Shape 11"/>
          <p:cNvSpPr/>
          <p:nvPr/>
        </p:nvSpPr>
        <p:spPr>
          <a:xfrm>
            <a:off x="6400800" y="3977640"/>
            <a:ext cx="5212080" cy="1965960"/>
          </a:xfrm>
          <a:prstGeom prst="roundRect">
            <a:avLst>
              <a:gd name="adj" fmla="val 2791"/>
            </a:avLst>
          </a:prstGeom>
          <a:solidFill>
            <a:srgbClr val="1B2430"/>
          </a:solidFill>
          <a:ln w="12700">
            <a:solidFill>
              <a:srgbClr val="2A3644"/>
            </a:solidFill>
            <a:prstDash val="solid"/>
          </a:ln>
        </p:spPr>
      </p:sp>
      <p:sp>
        <p:nvSpPr>
          <p:cNvPr id="16" name="Text 12"/>
          <p:cNvSpPr/>
          <p:nvPr/>
        </p:nvSpPr>
        <p:spPr>
          <a:xfrm>
            <a:off x="6675120" y="4178808"/>
            <a:ext cx="2011680" cy="274320"/>
          </a:xfrm>
          <a:prstGeom prst="rect">
            <a:avLst/>
          </a:prstGeom>
          <a:noFill/>
        </p:spPr>
        <p:txBody>
          <a:bodyPr wrap="square" rtlCol="0" anchor="ctr"/>
          <a:lstStyle/>
          <a:p>
            <a:pPr marL="0" indent="0">
              <a:buNone/>
            </a:pPr>
            <a:r>
              <a:rPr lang="en-US" sz="100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WINDOW 02</a:t>
            </a:r>
            <a:endParaRPr lang="en-US" sz="1000" dirty="0"/>
          </a:p>
        </p:txBody>
      </p:sp>
      <p:sp>
        <p:nvSpPr>
          <p:cNvPr id="17" name="Shape 13"/>
          <p:cNvSpPr/>
          <p:nvPr/>
        </p:nvSpPr>
        <p:spPr>
          <a:xfrm>
            <a:off x="10744200" y="4233672"/>
            <a:ext cx="548640" cy="548640"/>
          </a:xfrm>
          <a:prstGeom prst="ellipse">
            <a:avLst/>
          </a:prstGeom>
          <a:solidFill>
            <a:srgbClr val="B5482E"/>
          </a:solidFill>
        </p:spPr>
      </p:sp>
      <p:pic>
        <p:nvPicPr>
          <p:cNvPr id="18" name="Image 2" descr="/home/claude/icons/clipboard_cream.png"/>
          <p:cNvPicPr>
            <a:picLocks noChangeAspect="1"/>
          </p:cNvPicPr>
          <p:nvPr/>
        </p:nvPicPr>
        <p:blipFill>
          <a:blip r:embed="rId3"/>
          <a:stretch>
            <a:fillRect/>
          </a:stretch>
        </p:blipFill>
        <p:spPr>
          <a:xfrm>
            <a:off x="10815523" y="4304995"/>
            <a:ext cx="405994" cy="405994"/>
          </a:xfrm>
          <a:prstGeom prst="rect">
            <a:avLst/>
          </a:prstGeom>
        </p:spPr>
      </p:pic>
      <p:sp>
        <p:nvSpPr>
          <p:cNvPr id="19" name="Text 14"/>
          <p:cNvSpPr/>
          <p:nvPr/>
        </p:nvSpPr>
        <p:spPr>
          <a:xfrm>
            <a:off x="6675120" y="4507992"/>
            <a:ext cx="4023360" cy="411480"/>
          </a:xfrm>
          <a:prstGeom prst="rect">
            <a:avLst/>
          </a:prstGeom>
          <a:noFill/>
        </p:spPr>
        <p:txBody>
          <a:bodyPr wrap="square" rtlCol="0" anchor="ctr"/>
          <a:lstStyle/>
          <a:p>
            <a:pPr marL="0" indent="0">
              <a:buNone/>
            </a:pPr>
            <a:r>
              <a:rPr lang="en-US" sz="1800" b="1" dirty="0">
                <a:solidFill>
                  <a:srgbClr val="ECE6D8"/>
                </a:solidFill>
                <a:latin typeface="Cambria" panose="02040503050406030204" pitchFamily="34" charset="0"/>
                <a:ea typeface="Cambria" panose="02040503050406030204" pitchFamily="34" charset="-122"/>
                <a:cs typeface="Cambria" panose="02040503050406030204" pitchFamily="34" charset="-120"/>
              </a:rPr>
              <a:t>Lecturer Window</a:t>
            </a:r>
            <a:endParaRPr lang="en-US" sz="1800" dirty="0"/>
          </a:p>
        </p:txBody>
      </p:sp>
      <p:sp>
        <p:nvSpPr>
          <p:cNvPr id="20" name="Text 15"/>
          <p:cNvSpPr/>
          <p:nvPr/>
        </p:nvSpPr>
        <p:spPr>
          <a:xfrm>
            <a:off x="6675120" y="4937760"/>
            <a:ext cx="4023360" cy="822960"/>
          </a:xfrm>
          <a:prstGeom prst="rect">
            <a:avLst/>
          </a:prstGeom>
          <a:noFill/>
        </p:spPr>
        <p:txBody>
          <a:bodyPr wrap="square" rtlCol="0" anchor="ctr"/>
          <a:lstStyle/>
          <a:p>
            <a:pPr marL="0" indent="0">
              <a:lnSpc>
                <a:spcPts val="1500"/>
              </a:lnSpc>
              <a:buNone/>
            </a:pPr>
            <a:r>
              <a:rPr lang="en-US" sz="1200" dirty="0">
                <a:solidFill>
                  <a:srgbClr val="9AA7B3"/>
                </a:solidFill>
                <a:latin typeface="Calibri" panose="020F0502020204030204" pitchFamily="34" charset="0"/>
                <a:ea typeface="Calibri" panose="020F0502020204030204" pitchFamily="34" charset="-122"/>
                <a:cs typeface="Calibri" panose="020F0502020204030204" pitchFamily="34" charset="-120"/>
              </a:rPr>
              <a:t>Lecturers search, filter and download straight from the ledger.</a:t>
            </a:r>
            <a:endParaRPr lang="en-US" sz="1200" dirty="0"/>
          </a:p>
        </p:txBody>
      </p:sp>
      <p:sp>
        <p:nvSpPr>
          <p:cNvPr id="21" name="Text 16"/>
          <p:cNvSpPr/>
          <p:nvPr/>
        </p:nvSpPr>
        <p:spPr>
          <a:xfrm>
            <a:off x="457200" y="6528816"/>
            <a:ext cx="6400800" cy="274320"/>
          </a:xfrm>
          <a:prstGeom prst="rect">
            <a:avLst/>
          </a:prstGeom>
          <a:noFill/>
        </p:spPr>
        <p:txBody>
          <a:bodyPr wrap="square" rtlCol="0" anchor="ctr"/>
          <a:lstStyle/>
          <a:p>
            <a:pPr marL="0" indent="0">
              <a:buNone/>
            </a:pPr>
            <a:r>
              <a:rPr lang="en-US" sz="85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CLOUD ASSIGNMENT SUBMISSION PORTAL</a:t>
            </a:r>
            <a:endParaRPr lang="en-US" sz="850" dirty="0"/>
          </a:p>
        </p:txBody>
      </p:sp>
      <p:sp>
        <p:nvSpPr>
          <p:cNvPr id="22" name="Text 17"/>
          <p:cNvSpPr/>
          <p:nvPr/>
        </p:nvSpPr>
        <p:spPr>
          <a:xfrm>
            <a:off x="11274552" y="6528816"/>
            <a:ext cx="457200" cy="274320"/>
          </a:xfrm>
          <a:prstGeom prst="rect">
            <a:avLst/>
          </a:prstGeom>
          <a:noFill/>
        </p:spPr>
        <p:txBody>
          <a:bodyPr wrap="square" rtlCol="0" anchor="ctr"/>
          <a:lstStyle/>
          <a:p>
            <a:pPr marL="0" indent="0" algn="r">
              <a:buNone/>
            </a:pPr>
            <a:r>
              <a:rPr lang="en-US" sz="8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02920"/>
            <a:ext cx="1828800" cy="292608"/>
          </a:xfrm>
          <a:prstGeom prst="roundRect">
            <a:avLst>
              <a:gd name="adj" fmla="val 15625"/>
            </a:avLst>
          </a:prstGeom>
          <a:ln w="12700">
            <a:solidFill>
              <a:srgbClr val="B5482E"/>
            </a:solidFill>
            <a:prstDash val="solid"/>
          </a:ln>
        </p:spPr>
      </p:sp>
      <p:sp>
        <p:nvSpPr>
          <p:cNvPr id="3" name="Text 1"/>
          <p:cNvSpPr/>
          <p:nvPr/>
        </p:nvSpPr>
        <p:spPr>
          <a:xfrm>
            <a:off x="640080" y="502920"/>
            <a:ext cx="1828800" cy="292608"/>
          </a:xfrm>
          <a:prstGeom prst="rect">
            <a:avLst/>
          </a:prstGeom>
          <a:noFill/>
        </p:spPr>
        <p:txBody>
          <a:bodyPr wrap="square" rtlCol="0" anchor="ctr"/>
          <a:lstStyle/>
          <a:p>
            <a:pPr marL="0" indent="0" algn="ctr">
              <a:buNone/>
            </a:pPr>
            <a:r>
              <a:rPr lang="en-US" sz="1050" kern="0" spc="100"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03 · WALKTHROUGH</a:t>
            </a:r>
            <a:endParaRPr lang="en-US" sz="1050" dirty="0"/>
          </a:p>
        </p:txBody>
      </p:sp>
      <p:sp>
        <p:nvSpPr>
          <p:cNvPr id="4" name="Text 2"/>
          <p:cNvSpPr/>
          <p:nvPr/>
        </p:nvSpPr>
        <p:spPr>
          <a:xfrm>
            <a:off x="640080" y="914400"/>
            <a:ext cx="10058400" cy="640080"/>
          </a:xfrm>
          <a:prstGeom prst="rect">
            <a:avLst/>
          </a:prstGeom>
          <a:noFill/>
        </p:spPr>
        <p:txBody>
          <a:bodyPr wrap="square" rtlCol="0" anchor="ctr"/>
          <a:lstStyle/>
          <a:p>
            <a:pPr marL="0" indent="0">
              <a:buNone/>
            </a:pPr>
            <a:r>
              <a:rPr lang="en-US" sz="2700" b="1" dirty="0">
                <a:solidFill>
                  <a:srgbClr val="ECE6D8"/>
                </a:solidFill>
                <a:latin typeface="Cambria" panose="02040503050406030204" pitchFamily="34" charset="0"/>
                <a:ea typeface="Cambria" panose="02040503050406030204" pitchFamily="34" charset="-122"/>
                <a:cs typeface="Cambria" panose="02040503050406030204" pitchFamily="34" charset="-120"/>
              </a:rPr>
              <a:t>What happens when a student hits submit</a:t>
            </a:r>
            <a:endParaRPr lang="en-US" sz="2700" dirty="0"/>
          </a:p>
        </p:txBody>
      </p:sp>
      <p:sp>
        <p:nvSpPr>
          <p:cNvPr id="5" name="Shape 3"/>
          <p:cNvSpPr/>
          <p:nvPr/>
        </p:nvSpPr>
        <p:spPr>
          <a:xfrm>
            <a:off x="640080" y="1965960"/>
            <a:ext cx="2542032" cy="3246120"/>
          </a:xfrm>
          <a:prstGeom prst="roundRect">
            <a:avLst>
              <a:gd name="adj" fmla="val 2158"/>
            </a:avLst>
          </a:prstGeom>
          <a:solidFill>
            <a:srgbClr val="1B2430"/>
          </a:solidFill>
          <a:ln w="12700">
            <a:solidFill>
              <a:srgbClr val="2A3644"/>
            </a:solidFill>
            <a:prstDash val="solid"/>
          </a:ln>
        </p:spPr>
      </p:sp>
      <p:sp>
        <p:nvSpPr>
          <p:cNvPr id="6" name="Text 4"/>
          <p:cNvSpPr/>
          <p:nvPr/>
        </p:nvSpPr>
        <p:spPr>
          <a:xfrm>
            <a:off x="841248" y="2148840"/>
            <a:ext cx="1280160" cy="548640"/>
          </a:xfrm>
          <a:prstGeom prst="rect">
            <a:avLst/>
          </a:prstGeom>
          <a:noFill/>
        </p:spPr>
        <p:txBody>
          <a:bodyPr wrap="square" rtlCol="0" anchor="ctr"/>
          <a:lstStyle/>
          <a:p>
            <a:pPr marL="0" indent="0">
              <a:buNone/>
            </a:pPr>
            <a:r>
              <a:rPr lang="en-US" sz="2400" b="1"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01</a:t>
            </a:r>
            <a:endParaRPr lang="en-US" sz="2400" dirty="0"/>
          </a:p>
        </p:txBody>
      </p:sp>
      <p:sp>
        <p:nvSpPr>
          <p:cNvPr id="7" name="Text 5"/>
          <p:cNvSpPr/>
          <p:nvPr/>
        </p:nvSpPr>
        <p:spPr>
          <a:xfrm>
            <a:off x="841248" y="2743200"/>
            <a:ext cx="2139696" cy="502920"/>
          </a:xfrm>
          <a:prstGeom prst="rect">
            <a:avLst/>
          </a:prstGeom>
          <a:noFill/>
        </p:spPr>
        <p:txBody>
          <a:bodyPr wrap="square" rtlCol="0" anchor="ctr"/>
          <a:lstStyle/>
          <a:p>
            <a:pPr marL="0" indent="0">
              <a:buNone/>
            </a:pPr>
            <a:r>
              <a:rPr lang="en-US" sz="1550" b="1" dirty="0">
                <a:solidFill>
                  <a:srgbClr val="ECE6D8"/>
                </a:solidFill>
                <a:latin typeface="Cambria" panose="02040503050406030204" pitchFamily="34" charset="0"/>
                <a:ea typeface="Cambria" panose="02040503050406030204" pitchFamily="34" charset="-122"/>
                <a:cs typeface="Cambria" panose="02040503050406030204" pitchFamily="34" charset="-120"/>
              </a:rPr>
              <a:t>Fill the slip</a:t>
            </a:r>
            <a:endParaRPr lang="en-US" sz="1550" dirty="0"/>
          </a:p>
        </p:txBody>
      </p:sp>
      <p:sp>
        <p:nvSpPr>
          <p:cNvPr id="8" name="Text 6"/>
          <p:cNvSpPr/>
          <p:nvPr/>
        </p:nvSpPr>
        <p:spPr>
          <a:xfrm>
            <a:off x="841248" y="3264408"/>
            <a:ext cx="2139696" cy="1737360"/>
          </a:xfrm>
          <a:prstGeom prst="rect">
            <a:avLst/>
          </a:prstGeom>
          <a:noFill/>
        </p:spPr>
        <p:txBody>
          <a:bodyPr wrap="square" rtlCol="0" anchor="ctr"/>
          <a:lstStyle/>
          <a:p>
            <a:pPr marL="0" indent="0">
              <a:lnSpc>
                <a:spcPts val="1500"/>
              </a:lnSpc>
              <a:buNone/>
            </a:pPr>
            <a:r>
              <a:rPr lang="en-US" sz="1150" dirty="0">
                <a:solidFill>
                  <a:srgbClr val="9AA7B3"/>
                </a:solidFill>
                <a:latin typeface="Calibri" panose="020F0502020204030204" pitchFamily="34" charset="0"/>
                <a:ea typeface="Calibri" panose="020F0502020204030204" pitchFamily="34" charset="-122"/>
                <a:cs typeface="Calibri" panose="020F0502020204030204" pitchFamily="34" charset="-120"/>
              </a:rPr>
              <a:t>Name, student ID, course and assignment title.</a:t>
            </a:r>
            <a:endParaRPr lang="en-US" sz="1150" dirty="0"/>
          </a:p>
        </p:txBody>
      </p:sp>
      <p:sp>
        <p:nvSpPr>
          <p:cNvPr id="9" name="Text 7"/>
          <p:cNvSpPr/>
          <p:nvPr/>
        </p:nvSpPr>
        <p:spPr>
          <a:xfrm>
            <a:off x="3127248" y="3383280"/>
            <a:ext cx="457200" cy="457200"/>
          </a:xfrm>
          <a:prstGeom prst="rect">
            <a:avLst/>
          </a:prstGeom>
          <a:noFill/>
        </p:spPr>
        <p:txBody>
          <a:bodyPr wrap="square" rtlCol="0" anchor="ctr"/>
          <a:lstStyle/>
          <a:p>
            <a:pPr marL="0" indent="0" algn="ctr">
              <a:buNone/>
            </a:pPr>
            <a:r>
              <a:rPr lang="en-US" sz="2000" dirty="0">
                <a:solidFill>
                  <a:srgbClr val="B5482E"/>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0" name="Shape 8"/>
          <p:cNvSpPr/>
          <p:nvPr/>
        </p:nvSpPr>
        <p:spPr>
          <a:xfrm>
            <a:off x="3401568" y="1965960"/>
            <a:ext cx="2542032" cy="3246120"/>
          </a:xfrm>
          <a:prstGeom prst="roundRect">
            <a:avLst>
              <a:gd name="adj" fmla="val 2158"/>
            </a:avLst>
          </a:prstGeom>
          <a:solidFill>
            <a:srgbClr val="1B2430"/>
          </a:solidFill>
          <a:ln w="12700">
            <a:solidFill>
              <a:srgbClr val="2A3644"/>
            </a:solidFill>
            <a:prstDash val="solid"/>
          </a:ln>
        </p:spPr>
      </p:sp>
      <p:sp>
        <p:nvSpPr>
          <p:cNvPr id="11" name="Text 9"/>
          <p:cNvSpPr/>
          <p:nvPr/>
        </p:nvSpPr>
        <p:spPr>
          <a:xfrm>
            <a:off x="3602736" y="2148840"/>
            <a:ext cx="1280160" cy="548640"/>
          </a:xfrm>
          <a:prstGeom prst="rect">
            <a:avLst/>
          </a:prstGeom>
          <a:noFill/>
        </p:spPr>
        <p:txBody>
          <a:bodyPr wrap="square" rtlCol="0" anchor="ctr"/>
          <a:lstStyle/>
          <a:p>
            <a:pPr marL="0" indent="0">
              <a:buNone/>
            </a:pPr>
            <a:r>
              <a:rPr lang="en-US" sz="2400" b="1"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02</a:t>
            </a:r>
            <a:endParaRPr lang="en-US" sz="2400" dirty="0"/>
          </a:p>
        </p:txBody>
      </p:sp>
      <p:sp>
        <p:nvSpPr>
          <p:cNvPr id="12" name="Text 10"/>
          <p:cNvSpPr/>
          <p:nvPr/>
        </p:nvSpPr>
        <p:spPr>
          <a:xfrm>
            <a:off x="3602736" y="2743200"/>
            <a:ext cx="2139696" cy="502920"/>
          </a:xfrm>
          <a:prstGeom prst="rect">
            <a:avLst/>
          </a:prstGeom>
          <a:noFill/>
        </p:spPr>
        <p:txBody>
          <a:bodyPr wrap="square" rtlCol="0" anchor="ctr"/>
          <a:lstStyle/>
          <a:p>
            <a:pPr marL="0" indent="0">
              <a:buNone/>
            </a:pPr>
            <a:r>
              <a:rPr lang="en-US" sz="1550" b="1" dirty="0">
                <a:solidFill>
                  <a:srgbClr val="ECE6D8"/>
                </a:solidFill>
                <a:latin typeface="Cambria" panose="02040503050406030204" pitchFamily="34" charset="0"/>
                <a:ea typeface="Cambria" panose="02040503050406030204" pitchFamily="34" charset="-122"/>
                <a:cs typeface="Cambria" panose="02040503050406030204" pitchFamily="34" charset="-120"/>
              </a:rPr>
              <a:t>Ask the desk for a slot</a:t>
            </a:r>
            <a:endParaRPr lang="en-US" sz="1550" dirty="0"/>
          </a:p>
        </p:txBody>
      </p:sp>
      <p:sp>
        <p:nvSpPr>
          <p:cNvPr id="13" name="Text 11"/>
          <p:cNvSpPr/>
          <p:nvPr/>
        </p:nvSpPr>
        <p:spPr>
          <a:xfrm>
            <a:off x="3602736" y="3264408"/>
            <a:ext cx="2139696" cy="1737360"/>
          </a:xfrm>
          <a:prstGeom prst="rect">
            <a:avLst/>
          </a:prstGeom>
          <a:noFill/>
        </p:spPr>
        <p:txBody>
          <a:bodyPr wrap="square" rtlCol="0" anchor="ctr"/>
          <a:lstStyle/>
          <a:p>
            <a:pPr marL="0" indent="0">
              <a:lnSpc>
                <a:spcPts val="1500"/>
              </a:lnSpc>
              <a:buNone/>
            </a:pPr>
            <a:r>
              <a:rPr lang="en-US" sz="1150" dirty="0">
                <a:solidFill>
                  <a:srgbClr val="9AA7B3"/>
                </a:solidFill>
                <a:latin typeface="Calibri" panose="020F0502020204030204" pitchFamily="34" charset="0"/>
                <a:ea typeface="Calibri" panose="020F0502020204030204" pitchFamily="34" charset="-122"/>
                <a:cs typeface="Calibri" panose="020F0502020204030204" pitchFamily="34" charset="-120"/>
              </a:rPr>
              <a:t>API Gateway → Lambda validates the form and writes a PENDING record to DynamoDB.</a:t>
            </a:r>
            <a:endParaRPr lang="en-US" sz="1150" dirty="0"/>
          </a:p>
        </p:txBody>
      </p:sp>
      <p:sp>
        <p:nvSpPr>
          <p:cNvPr id="14" name="Text 12"/>
          <p:cNvSpPr/>
          <p:nvPr/>
        </p:nvSpPr>
        <p:spPr>
          <a:xfrm>
            <a:off x="5888736" y="3383280"/>
            <a:ext cx="457200" cy="457200"/>
          </a:xfrm>
          <a:prstGeom prst="rect">
            <a:avLst/>
          </a:prstGeom>
          <a:noFill/>
        </p:spPr>
        <p:txBody>
          <a:bodyPr wrap="square" rtlCol="0" anchor="ctr"/>
          <a:lstStyle/>
          <a:p>
            <a:pPr marL="0" indent="0" algn="ctr">
              <a:buNone/>
            </a:pPr>
            <a:r>
              <a:rPr lang="en-US" sz="2000" dirty="0">
                <a:solidFill>
                  <a:srgbClr val="B5482E"/>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5" name="Shape 13"/>
          <p:cNvSpPr/>
          <p:nvPr/>
        </p:nvSpPr>
        <p:spPr>
          <a:xfrm>
            <a:off x="6163056" y="1965960"/>
            <a:ext cx="2542032" cy="3246120"/>
          </a:xfrm>
          <a:prstGeom prst="roundRect">
            <a:avLst>
              <a:gd name="adj" fmla="val 2158"/>
            </a:avLst>
          </a:prstGeom>
          <a:solidFill>
            <a:srgbClr val="1B2430"/>
          </a:solidFill>
          <a:ln w="12700">
            <a:solidFill>
              <a:srgbClr val="2A3644"/>
            </a:solidFill>
            <a:prstDash val="solid"/>
          </a:ln>
        </p:spPr>
      </p:sp>
      <p:sp>
        <p:nvSpPr>
          <p:cNvPr id="16" name="Text 14"/>
          <p:cNvSpPr/>
          <p:nvPr/>
        </p:nvSpPr>
        <p:spPr>
          <a:xfrm>
            <a:off x="6364224" y="2148840"/>
            <a:ext cx="1280160" cy="548640"/>
          </a:xfrm>
          <a:prstGeom prst="rect">
            <a:avLst/>
          </a:prstGeom>
          <a:noFill/>
        </p:spPr>
        <p:txBody>
          <a:bodyPr wrap="square" rtlCol="0" anchor="ctr"/>
          <a:lstStyle/>
          <a:p>
            <a:pPr marL="0" indent="0">
              <a:buNone/>
            </a:pPr>
            <a:r>
              <a:rPr lang="en-US" sz="2400" b="1"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03</a:t>
            </a:r>
            <a:endParaRPr lang="en-US" sz="2400" dirty="0"/>
          </a:p>
        </p:txBody>
      </p:sp>
      <p:sp>
        <p:nvSpPr>
          <p:cNvPr id="17" name="Text 15"/>
          <p:cNvSpPr/>
          <p:nvPr/>
        </p:nvSpPr>
        <p:spPr>
          <a:xfrm>
            <a:off x="6364224" y="2743200"/>
            <a:ext cx="2139696" cy="502920"/>
          </a:xfrm>
          <a:prstGeom prst="rect">
            <a:avLst/>
          </a:prstGeom>
          <a:noFill/>
        </p:spPr>
        <p:txBody>
          <a:bodyPr wrap="square" rtlCol="0" anchor="ctr"/>
          <a:lstStyle/>
          <a:p>
            <a:pPr marL="0" indent="0">
              <a:buNone/>
            </a:pPr>
            <a:r>
              <a:rPr lang="en-US" sz="1550" b="1" dirty="0">
                <a:solidFill>
                  <a:srgbClr val="ECE6D8"/>
                </a:solidFill>
                <a:latin typeface="Cambria" panose="02040503050406030204" pitchFamily="34" charset="0"/>
                <a:ea typeface="Cambria" panose="02040503050406030204" pitchFamily="34" charset="-122"/>
                <a:cs typeface="Cambria" panose="02040503050406030204" pitchFamily="34" charset="-120"/>
              </a:rPr>
              <a:t>Upload straight to storage</a:t>
            </a:r>
            <a:endParaRPr lang="en-US" sz="1550" dirty="0"/>
          </a:p>
        </p:txBody>
      </p:sp>
      <p:sp>
        <p:nvSpPr>
          <p:cNvPr id="18" name="Text 16"/>
          <p:cNvSpPr/>
          <p:nvPr/>
        </p:nvSpPr>
        <p:spPr>
          <a:xfrm>
            <a:off x="6364224" y="3264408"/>
            <a:ext cx="2139696" cy="1737360"/>
          </a:xfrm>
          <a:prstGeom prst="rect">
            <a:avLst/>
          </a:prstGeom>
          <a:noFill/>
        </p:spPr>
        <p:txBody>
          <a:bodyPr wrap="square" rtlCol="0" anchor="ctr"/>
          <a:lstStyle/>
          <a:p>
            <a:pPr marL="0" indent="0">
              <a:lnSpc>
                <a:spcPts val="1500"/>
              </a:lnSpc>
              <a:buNone/>
            </a:pPr>
            <a:r>
              <a:rPr lang="en-US" sz="1150" dirty="0">
                <a:solidFill>
                  <a:srgbClr val="9AA7B3"/>
                </a:solidFill>
                <a:latin typeface="Calibri" panose="020F0502020204030204" pitchFamily="34" charset="0"/>
                <a:ea typeface="Calibri" panose="020F0502020204030204" pitchFamily="34" charset="-122"/>
                <a:cs typeface="Calibri" panose="020F0502020204030204" pitchFamily="34" charset="-120"/>
              </a:rPr>
              <a:t>The browser PUTs the file directly to S3 with a short-lived presigned URL — it never passes through Lambda.</a:t>
            </a:r>
            <a:endParaRPr lang="en-US" sz="1150" dirty="0"/>
          </a:p>
        </p:txBody>
      </p:sp>
      <p:sp>
        <p:nvSpPr>
          <p:cNvPr id="19" name="Text 17"/>
          <p:cNvSpPr/>
          <p:nvPr/>
        </p:nvSpPr>
        <p:spPr>
          <a:xfrm>
            <a:off x="8650224" y="3383280"/>
            <a:ext cx="457200" cy="457200"/>
          </a:xfrm>
          <a:prstGeom prst="rect">
            <a:avLst/>
          </a:prstGeom>
          <a:noFill/>
        </p:spPr>
        <p:txBody>
          <a:bodyPr wrap="square" rtlCol="0" anchor="ctr"/>
          <a:lstStyle/>
          <a:p>
            <a:pPr marL="0" indent="0" algn="ctr">
              <a:buNone/>
            </a:pPr>
            <a:r>
              <a:rPr lang="en-US" sz="2000" dirty="0">
                <a:solidFill>
                  <a:srgbClr val="B5482E"/>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0" name="Shape 18"/>
          <p:cNvSpPr/>
          <p:nvPr/>
        </p:nvSpPr>
        <p:spPr>
          <a:xfrm>
            <a:off x="8924544" y="1965960"/>
            <a:ext cx="2542032" cy="3246120"/>
          </a:xfrm>
          <a:prstGeom prst="roundRect">
            <a:avLst>
              <a:gd name="adj" fmla="val 2158"/>
            </a:avLst>
          </a:prstGeom>
          <a:solidFill>
            <a:srgbClr val="1B2430"/>
          </a:solidFill>
          <a:ln w="12700">
            <a:solidFill>
              <a:srgbClr val="2A3644"/>
            </a:solidFill>
            <a:prstDash val="solid"/>
          </a:ln>
        </p:spPr>
      </p:sp>
      <p:sp>
        <p:nvSpPr>
          <p:cNvPr id="21" name="Text 19"/>
          <p:cNvSpPr/>
          <p:nvPr/>
        </p:nvSpPr>
        <p:spPr>
          <a:xfrm>
            <a:off x="9125712" y="2148840"/>
            <a:ext cx="1280160" cy="548640"/>
          </a:xfrm>
          <a:prstGeom prst="rect">
            <a:avLst/>
          </a:prstGeom>
          <a:noFill/>
        </p:spPr>
        <p:txBody>
          <a:bodyPr wrap="square" rtlCol="0" anchor="ctr"/>
          <a:lstStyle/>
          <a:p>
            <a:pPr marL="0" indent="0">
              <a:buNone/>
            </a:pPr>
            <a:r>
              <a:rPr lang="en-US" sz="2400" b="1"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04</a:t>
            </a:r>
            <a:endParaRPr lang="en-US" sz="2400" dirty="0"/>
          </a:p>
        </p:txBody>
      </p:sp>
      <p:sp>
        <p:nvSpPr>
          <p:cNvPr id="22" name="Text 20"/>
          <p:cNvSpPr/>
          <p:nvPr/>
        </p:nvSpPr>
        <p:spPr>
          <a:xfrm>
            <a:off x="9125712" y="2743200"/>
            <a:ext cx="2139696" cy="502920"/>
          </a:xfrm>
          <a:prstGeom prst="rect">
            <a:avLst/>
          </a:prstGeom>
          <a:noFill/>
        </p:spPr>
        <p:txBody>
          <a:bodyPr wrap="square" rtlCol="0" anchor="ctr"/>
          <a:lstStyle/>
          <a:p>
            <a:pPr marL="0" indent="0">
              <a:buNone/>
            </a:pPr>
            <a:r>
              <a:rPr lang="en-US" sz="1550" b="1" dirty="0">
                <a:solidFill>
                  <a:srgbClr val="ECE6D8"/>
                </a:solidFill>
                <a:latin typeface="Cambria" panose="02040503050406030204" pitchFamily="34" charset="0"/>
                <a:ea typeface="Cambria" panose="02040503050406030204" pitchFamily="34" charset="-122"/>
                <a:cs typeface="Cambria" panose="02040503050406030204" pitchFamily="34" charset="-120"/>
              </a:rPr>
              <a:t>Get the stamp</a:t>
            </a:r>
            <a:endParaRPr lang="en-US" sz="1550" dirty="0"/>
          </a:p>
        </p:txBody>
      </p:sp>
      <p:sp>
        <p:nvSpPr>
          <p:cNvPr id="23" name="Text 21"/>
          <p:cNvSpPr/>
          <p:nvPr/>
        </p:nvSpPr>
        <p:spPr>
          <a:xfrm>
            <a:off x="9125712" y="3264408"/>
            <a:ext cx="2139696" cy="1737360"/>
          </a:xfrm>
          <a:prstGeom prst="rect">
            <a:avLst/>
          </a:prstGeom>
          <a:noFill/>
        </p:spPr>
        <p:txBody>
          <a:bodyPr wrap="square" rtlCol="0" anchor="ctr"/>
          <a:lstStyle/>
          <a:p>
            <a:pPr marL="0" indent="0">
              <a:lnSpc>
                <a:spcPts val="1500"/>
              </a:lnSpc>
              <a:buNone/>
            </a:pPr>
            <a:r>
              <a:rPr lang="en-US" sz="1150" dirty="0">
                <a:solidFill>
                  <a:srgbClr val="9AA7B3"/>
                </a:solidFill>
                <a:latin typeface="Calibri" panose="020F0502020204030204" pitchFamily="34" charset="0"/>
                <a:ea typeface="Calibri" panose="020F0502020204030204" pitchFamily="34" charset="-122"/>
                <a:cs typeface="Calibri" panose="020F0502020204030204" pitchFamily="34" charset="-120"/>
              </a:rPr>
              <a:t>An S3 event fires a Lambda that flips the record to UPLOADED. The student sees a receipt instantly.</a:t>
            </a:r>
            <a:endParaRPr lang="en-US" sz="1150" dirty="0"/>
          </a:p>
        </p:txBody>
      </p:sp>
      <p:sp>
        <p:nvSpPr>
          <p:cNvPr id="24" name="Text 22"/>
          <p:cNvSpPr/>
          <p:nvPr/>
        </p:nvSpPr>
        <p:spPr>
          <a:xfrm>
            <a:off x="457200" y="6528816"/>
            <a:ext cx="6400800" cy="274320"/>
          </a:xfrm>
          <a:prstGeom prst="rect">
            <a:avLst/>
          </a:prstGeom>
          <a:noFill/>
        </p:spPr>
        <p:txBody>
          <a:bodyPr wrap="square" rtlCol="0" anchor="ctr"/>
          <a:lstStyle/>
          <a:p>
            <a:pPr marL="0" indent="0">
              <a:buNone/>
            </a:pPr>
            <a:r>
              <a:rPr lang="en-US" sz="85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CLOUD ASSIGNMENT SUBMISSION PORTAL</a:t>
            </a:r>
            <a:endParaRPr lang="en-US" sz="850" dirty="0"/>
          </a:p>
        </p:txBody>
      </p:sp>
      <p:sp>
        <p:nvSpPr>
          <p:cNvPr id="25" name="Text 23"/>
          <p:cNvSpPr/>
          <p:nvPr/>
        </p:nvSpPr>
        <p:spPr>
          <a:xfrm>
            <a:off x="11274552" y="6528816"/>
            <a:ext cx="457200" cy="274320"/>
          </a:xfrm>
          <a:prstGeom prst="rect">
            <a:avLst/>
          </a:prstGeom>
          <a:noFill/>
        </p:spPr>
        <p:txBody>
          <a:bodyPr wrap="square" rtlCol="0" anchor="ctr"/>
          <a:lstStyle/>
          <a:p>
            <a:pPr marL="0" indent="0" algn="r">
              <a:buNone/>
            </a:pPr>
            <a:r>
              <a:rPr lang="en-US" sz="8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457200"/>
            <a:ext cx="1828800" cy="292608"/>
          </a:xfrm>
          <a:prstGeom prst="roundRect">
            <a:avLst>
              <a:gd name="adj" fmla="val 15625"/>
            </a:avLst>
          </a:prstGeom>
          <a:ln w="12700">
            <a:solidFill>
              <a:srgbClr val="B5482E"/>
            </a:solidFill>
            <a:prstDash val="solid"/>
          </a:ln>
        </p:spPr>
      </p:sp>
      <p:sp>
        <p:nvSpPr>
          <p:cNvPr id="3" name="Text 1"/>
          <p:cNvSpPr/>
          <p:nvPr/>
        </p:nvSpPr>
        <p:spPr>
          <a:xfrm>
            <a:off x="640080" y="457200"/>
            <a:ext cx="1828800" cy="292608"/>
          </a:xfrm>
          <a:prstGeom prst="rect">
            <a:avLst/>
          </a:prstGeom>
          <a:noFill/>
        </p:spPr>
        <p:txBody>
          <a:bodyPr wrap="square" rtlCol="0" anchor="ctr"/>
          <a:lstStyle/>
          <a:p>
            <a:pPr marL="0" indent="0" algn="ctr">
              <a:buNone/>
            </a:pPr>
            <a:r>
              <a:rPr lang="en-US" sz="1050" kern="0" spc="100"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04 · ARCHITECTURE</a:t>
            </a:r>
            <a:endParaRPr lang="en-US" sz="1050" dirty="0"/>
          </a:p>
        </p:txBody>
      </p:sp>
      <p:sp>
        <p:nvSpPr>
          <p:cNvPr id="4" name="Text 2"/>
          <p:cNvSpPr/>
          <p:nvPr/>
        </p:nvSpPr>
        <p:spPr>
          <a:xfrm>
            <a:off x="640080" y="868680"/>
            <a:ext cx="7315200" cy="594360"/>
          </a:xfrm>
          <a:prstGeom prst="rect">
            <a:avLst/>
          </a:prstGeom>
          <a:noFill/>
        </p:spPr>
        <p:txBody>
          <a:bodyPr wrap="square" rtlCol="0" anchor="ctr"/>
          <a:lstStyle/>
          <a:p>
            <a:pPr marL="0" indent="0">
              <a:buNone/>
            </a:pPr>
            <a:r>
              <a:rPr lang="en-US" sz="2700" b="1" dirty="0">
                <a:solidFill>
                  <a:srgbClr val="ECE6D8"/>
                </a:solidFill>
                <a:latin typeface="Cambria" panose="02040503050406030204" pitchFamily="34" charset="0"/>
                <a:ea typeface="Cambria" panose="02040503050406030204" pitchFamily="34" charset="-122"/>
                <a:cs typeface="Cambria" panose="02040503050406030204" pitchFamily="34" charset="-120"/>
              </a:rPr>
              <a:t>Serverless end to end</a:t>
            </a:r>
            <a:endParaRPr lang="en-US" sz="2700" dirty="0"/>
          </a:p>
        </p:txBody>
      </p:sp>
      <p:sp>
        <p:nvSpPr>
          <p:cNvPr id="5" name="Shape 3"/>
          <p:cNvSpPr/>
          <p:nvPr/>
        </p:nvSpPr>
        <p:spPr>
          <a:xfrm>
            <a:off x="640080" y="1783080"/>
            <a:ext cx="1691640" cy="868680"/>
          </a:xfrm>
          <a:prstGeom prst="roundRect">
            <a:avLst>
              <a:gd name="adj" fmla="val 6316"/>
            </a:avLst>
          </a:prstGeom>
          <a:solidFill>
            <a:srgbClr val="1B2430"/>
          </a:solidFill>
          <a:ln w="15875">
            <a:solidFill>
              <a:srgbClr val="B5482E"/>
            </a:solidFill>
            <a:prstDash val="solid"/>
          </a:ln>
        </p:spPr>
      </p:sp>
      <p:sp>
        <p:nvSpPr>
          <p:cNvPr id="6" name="Text 4"/>
          <p:cNvSpPr/>
          <p:nvPr/>
        </p:nvSpPr>
        <p:spPr>
          <a:xfrm>
            <a:off x="640080" y="1892808"/>
            <a:ext cx="1691640" cy="365760"/>
          </a:xfrm>
          <a:prstGeom prst="rect">
            <a:avLst/>
          </a:prstGeom>
          <a:noFill/>
        </p:spPr>
        <p:txBody>
          <a:bodyPr wrap="square" rtlCol="0" anchor="ctr"/>
          <a:lstStyle/>
          <a:p>
            <a:pPr marL="0" indent="0" algn="ctr">
              <a:buNone/>
            </a:pPr>
            <a:r>
              <a:rPr lang="en-US" sz="1350" b="1" dirty="0">
                <a:solidFill>
                  <a:srgbClr val="ECE6D8"/>
                </a:solidFill>
                <a:latin typeface="Cambria" panose="02040503050406030204" pitchFamily="34" charset="0"/>
                <a:ea typeface="Cambria" panose="02040503050406030204" pitchFamily="34" charset="-122"/>
                <a:cs typeface="Cambria" panose="02040503050406030204" pitchFamily="34" charset="-120"/>
              </a:rPr>
              <a:t>Browser</a:t>
            </a:r>
            <a:endParaRPr lang="en-US" sz="1350" dirty="0"/>
          </a:p>
        </p:txBody>
      </p:sp>
      <p:sp>
        <p:nvSpPr>
          <p:cNvPr id="7" name="Text 5"/>
          <p:cNvSpPr/>
          <p:nvPr/>
        </p:nvSpPr>
        <p:spPr>
          <a:xfrm>
            <a:off x="640080" y="2258568"/>
            <a:ext cx="1691640" cy="320040"/>
          </a:xfrm>
          <a:prstGeom prst="rect">
            <a:avLst/>
          </a:prstGeom>
          <a:noFill/>
        </p:spPr>
        <p:txBody>
          <a:bodyPr wrap="square" rtlCol="0" anchor="ctr"/>
          <a:lstStyle/>
          <a:p>
            <a:pPr marL="0" indent="0" algn="ctr">
              <a:buNone/>
            </a:pPr>
            <a:r>
              <a:rPr lang="en-US" sz="950" dirty="0">
                <a:solidFill>
                  <a:srgbClr val="9AA7B3"/>
                </a:solidFill>
                <a:latin typeface="Calibri" panose="020F0502020204030204" pitchFamily="34" charset="0"/>
                <a:ea typeface="Calibri" panose="020F0502020204030204" pitchFamily="34" charset="-122"/>
                <a:cs typeface="Calibri" panose="020F0502020204030204" pitchFamily="34" charset="-120"/>
              </a:rPr>
              <a:t>Student / lecturer</a:t>
            </a:r>
            <a:endParaRPr lang="en-US" sz="950" dirty="0"/>
          </a:p>
        </p:txBody>
      </p:sp>
      <p:sp>
        <p:nvSpPr>
          <p:cNvPr id="8" name="Text 6"/>
          <p:cNvSpPr/>
          <p:nvPr/>
        </p:nvSpPr>
        <p:spPr>
          <a:xfrm>
            <a:off x="2331720" y="1783080"/>
            <a:ext cx="256032" cy="868680"/>
          </a:xfrm>
          <a:prstGeom prst="rect">
            <a:avLst/>
          </a:prstGeom>
          <a:noFill/>
        </p:spPr>
        <p:txBody>
          <a:bodyPr wrap="square" rtlCol="0" anchor="ctr"/>
          <a:lstStyle/>
          <a:p>
            <a:pPr marL="0" indent="0" algn="ctr">
              <a:buNone/>
            </a:pPr>
            <a:r>
              <a:rPr lang="en-US" sz="1800" dirty="0">
                <a:solidFill>
                  <a:srgbClr val="B5482E"/>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9" name="Shape 7"/>
          <p:cNvSpPr/>
          <p:nvPr/>
        </p:nvSpPr>
        <p:spPr>
          <a:xfrm>
            <a:off x="2587752" y="1783080"/>
            <a:ext cx="1691640" cy="868680"/>
          </a:xfrm>
          <a:prstGeom prst="roundRect">
            <a:avLst>
              <a:gd name="adj" fmla="val 6316"/>
            </a:avLst>
          </a:prstGeom>
          <a:solidFill>
            <a:srgbClr val="1B2430"/>
          </a:solidFill>
          <a:ln w="15875">
            <a:solidFill>
              <a:srgbClr val="B5482E"/>
            </a:solidFill>
            <a:prstDash val="solid"/>
          </a:ln>
        </p:spPr>
      </p:sp>
      <p:sp>
        <p:nvSpPr>
          <p:cNvPr id="10" name="Text 8"/>
          <p:cNvSpPr/>
          <p:nvPr/>
        </p:nvSpPr>
        <p:spPr>
          <a:xfrm>
            <a:off x="2587752" y="1892808"/>
            <a:ext cx="1691640" cy="365760"/>
          </a:xfrm>
          <a:prstGeom prst="rect">
            <a:avLst/>
          </a:prstGeom>
          <a:noFill/>
        </p:spPr>
        <p:txBody>
          <a:bodyPr wrap="square" rtlCol="0" anchor="ctr"/>
          <a:lstStyle/>
          <a:p>
            <a:pPr marL="0" indent="0" algn="ctr">
              <a:buNone/>
            </a:pPr>
            <a:r>
              <a:rPr lang="en-US" sz="1350" b="1" dirty="0">
                <a:solidFill>
                  <a:srgbClr val="ECE6D8"/>
                </a:solidFill>
                <a:latin typeface="Cambria" panose="02040503050406030204" pitchFamily="34" charset="0"/>
                <a:ea typeface="Cambria" panose="02040503050406030204" pitchFamily="34" charset="-122"/>
                <a:cs typeface="Cambria" panose="02040503050406030204" pitchFamily="34" charset="-120"/>
              </a:rPr>
              <a:t>API Gateway</a:t>
            </a:r>
            <a:endParaRPr lang="en-US" sz="1350" dirty="0"/>
          </a:p>
        </p:txBody>
      </p:sp>
      <p:sp>
        <p:nvSpPr>
          <p:cNvPr id="11" name="Text 9"/>
          <p:cNvSpPr/>
          <p:nvPr/>
        </p:nvSpPr>
        <p:spPr>
          <a:xfrm>
            <a:off x="2587752" y="2258568"/>
            <a:ext cx="1691640" cy="320040"/>
          </a:xfrm>
          <a:prstGeom prst="rect">
            <a:avLst/>
          </a:prstGeom>
          <a:noFill/>
        </p:spPr>
        <p:txBody>
          <a:bodyPr wrap="square" rtlCol="0" anchor="ctr"/>
          <a:lstStyle/>
          <a:p>
            <a:pPr marL="0" indent="0" algn="ctr">
              <a:buNone/>
            </a:pPr>
            <a:r>
              <a:rPr lang="en-US" sz="950" dirty="0">
                <a:solidFill>
                  <a:srgbClr val="9AA7B3"/>
                </a:solidFill>
                <a:latin typeface="Calibri" panose="020F0502020204030204" pitchFamily="34" charset="0"/>
                <a:ea typeface="Calibri" panose="020F0502020204030204" pitchFamily="34" charset="-122"/>
                <a:cs typeface="Calibri" panose="020F0502020204030204" pitchFamily="34" charset="-120"/>
              </a:rPr>
              <a:t>REST endpoints</a:t>
            </a:r>
            <a:endParaRPr lang="en-US" sz="950" dirty="0"/>
          </a:p>
        </p:txBody>
      </p:sp>
      <p:sp>
        <p:nvSpPr>
          <p:cNvPr id="12" name="Text 10"/>
          <p:cNvSpPr/>
          <p:nvPr/>
        </p:nvSpPr>
        <p:spPr>
          <a:xfrm>
            <a:off x="4279392" y="1783080"/>
            <a:ext cx="256032" cy="868680"/>
          </a:xfrm>
          <a:prstGeom prst="rect">
            <a:avLst/>
          </a:prstGeom>
          <a:noFill/>
        </p:spPr>
        <p:txBody>
          <a:bodyPr wrap="square" rtlCol="0" anchor="ctr"/>
          <a:lstStyle/>
          <a:p>
            <a:pPr marL="0" indent="0" algn="ctr">
              <a:buNone/>
            </a:pPr>
            <a:r>
              <a:rPr lang="en-US" sz="1800" dirty="0">
                <a:solidFill>
                  <a:srgbClr val="B5482E"/>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3" name="Shape 11"/>
          <p:cNvSpPr/>
          <p:nvPr/>
        </p:nvSpPr>
        <p:spPr>
          <a:xfrm>
            <a:off x="4535424" y="1783080"/>
            <a:ext cx="1691640" cy="868680"/>
          </a:xfrm>
          <a:prstGeom prst="roundRect">
            <a:avLst>
              <a:gd name="adj" fmla="val 6316"/>
            </a:avLst>
          </a:prstGeom>
          <a:solidFill>
            <a:srgbClr val="1B2430"/>
          </a:solidFill>
          <a:ln w="15875">
            <a:solidFill>
              <a:srgbClr val="B5482E"/>
            </a:solidFill>
            <a:prstDash val="solid"/>
          </a:ln>
        </p:spPr>
      </p:sp>
      <p:sp>
        <p:nvSpPr>
          <p:cNvPr id="14" name="Text 12"/>
          <p:cNvSpPr/>
          <p:nvPr/>
        </p:nvSpPr>
        <p:spPr>
          <a:xfrm>
            <a:off x="4535424" y="1892808"/>
            <a:ext cx="1691640" cy="365760"/>
          </a:xfrm>
          <a:prstGeom prst="rect">
            <a:avLst/>
          </a:prstGeom>
          <a:noFill/>
        </p:spPr>
        <p:txBody>
          <a:bodyPr wrap="square" rtlCol="0" anchor="ctr"/>
          <a:lstStyle/>
          <a:p>
            <a:pPr marL="0" indent="0" algn="ctr">
              <a:buNone/>
            </a:pPr>
            <a:r>
              <a:rPr lang="en-US" sz="1350" b="1" dirty="0">
                <a:solidFill>
                  <a:srgbClr val="ECE6D8"/>
                </a:solidFill>
                <a:latin typeface="Cambria" panose="02040503050406030204" pitchFamily="34" charset="0"/>
                <a:ea typeface="Cambria" panose="02040503050406030204" pitchFamily="34" charset="-122"/>
                <a:cs typeface="Cambria" panose="02040503050406030204" pitchFamily="34" charset="-120"/>
              </a:rPr>
              <a:t>Lambda</a:t>
            </a:r>
            <a:endParaRPr lang="en-US" sz="1350" dirty="0"/>
          </a:p>
        </p:txBody>
      </p:sp>
      <p:sp>
        <p:nvSpPr>
          <p:cNvPr id="15" name="Text 13"/>
          <p:cNvSpPr/>
          <p:nvPr/>
        </p:nvSpPr>
        <p:spPr>
          <a:xfrm>
            <a:off x="4535424" y="2258568"/>
            <a:ext cx="1691640" cy="320040"/>
          </a:xfrm>
          <a:prstGeom prst="rect">
            <a:avLst/>
          </a:prstGeom>
          <a:noFill/>
        </p:spPr>
        <p:txBody>
          <a:bodyPr wrap="square" rtlCol="0" anchor="ctr"/>
          <a:lstStyle/>
          <a:p>
            <a:pPr marL="0" indent="0" algn="ctr">
              <a:buNone/>
            </a:pPr>
            <a:r>
              <a:rPr lang="en-US" sz="950" dirty="0">
                <a:solidFill>
                  <a:srgbClr val="9AA7B3"/>
                </a:solidFill>
                <a:latin typeface="Calibri" panose="020F0502020204030204" pitchFamily="34" charset="0"/>
                <a:ea typeface="Calibri" panose="020F0502020204030204" pitchFamily="34" charset="-122"/>
                <a:cs typeface="Calibri" panose="020F0502020204030204" pitchFamily="34" charset="-120"/>
              </a:rPr>
              <a:t>Business logic</a:t>
            </a:r>
            <a:endParaRPr lang="en-US" sz="950" dirty="0"/>
          </a:p>
        </p:txBody>
      </p:sp>
      <p:sp>
        <p:nvSpPr>
          <p:cNvPr id="16" name="Text 14"/>
          <p:cNvSpPr/>
          <p:nvPr/>
        </p:nvSpPr>
        <p:spPr>
          <a:xfrm>
            <a:off x="6227064" y="1783080"/>
            <a:ext cx="256032" cy="868680"/>
          </a:xfrm>
          <a:prstGeom prst="rect">
            <a:avLst/>
          </a:prstGeom>
          <a:noFill/>
        </p:spPr>
        <p:txBody>
          <a:bodyPr wrap="square" rtlCol="0" anchor="ctr"/>
          <a:lstStyle/>
          <a:p>
            <a:pPr marL="0" indent="0" algn="ctr">
              <a:buNone/>
            </a:pPr>
            <a:r>
              <a:rPr lang="en-US" sz="1800" dirty="0">
                <a:solidFill>
                  <a:srgbClr val="B5482E"/>
                </a:solidFill>
                <a:latin typeface="Calibri" panose="020F0502020204030204" pitchFamily="34" charset="0"/>
                <a:ea typeface="Calibri" panose="020F0502020204030204" pitchFamily="34" charset="-122"/>
                <a:cs typeface="Calibri" panose="020F0502020204030204" pitchFamily="34" charset="-120"/>
              </a:rPr>
              <a:t>→</a:t>
            </a:r>
            <a:endParaRPr lang="en-US" sz="1800" dirty="0"/>
          </a:p>
        </p:txBody>
      </p:sp>
      <p:sp>
        <p:nvSpPr>
          <p:cNvPr id="17" name="Shape 15"/>
          <p:cNvSpPr/>
          <p:nvPr/>
        </p:nvSpPr>
        <p:spPr>
          <a:xfrm>
            <a:off x="6483096" y="1783080"/>
            <a:ext cx="1691640" cy="868680"/>
          </a:xfrm>
          <a:prstGeom prst="roundRect">
            <a:avLst>
              <a:gd name="adj" fmla="val 6316"/>
            </a:avLst>
          </a:prstGeom>
          <a:solidFill>
            <a:srgbClr val="1B2430"/>
          </a:solidFill>
          <a:ln w="15875">
            <a:solidFill>
              <a:srgbClr val="B5482E"/>
            </a:solidFill>
            <a:prstDash val="solid"/>
          </a:ln>
        </p:spPr>
      </p:sp>
      <p:sp>
        <p:nvSpPr>
          <p:cNvPr id="18" name="Text 16"/>
          <p:cNvSpPr/>
          <p:nvPr/>
        </p:nvSpPr>
        <p:spPr>
          <a:xfrm>
            <a:off x="6483096" y="1892808"/>
            <a:ext cx="1691640" cy="365760"/>
          </a:xfrm>
          <a:prstGeom prst="rect">
            <a:avLst/>
          </a:prstGeom>
          <a:noFill/>
        </p:spPr>
        <p:txBody>
          <a:bodyPr wrap="square" rtlCol="0" anchor="ctr"/>
          <a:lstStyle/>
          <a:p>
            <a:pPr marL="0" indent="0" algn="ctr">
              <a:buNone/>
            </a:pPr>
            <a:r>
              <a:rPr lang="en-US" sz="1350" b="1" dirty="0">
                <a:solidFill>
                  <a:srgbClr val="ECE6D8"/>
                </a:solidFill>
                <a:latin typeface="Cambria" panose="02040503050406030204" pitchFamily="34" charset="0"/>
                <a:ea typeface="Cambria" panose="02040503050406030204" pitchFamily="34" charset="-122"/>
                <a:cs typeface="Cambria" panose="02040503050406030204" pitchFamily="34" charset="-120"/>
              </a:rPr>
              <a:t>S3 + DynamoDB</a:t>
            </a:r>
            <a:endParaRPr lang="en-US" sz="1350" dirty="0"/>
          </a:p>
        </p:txBody>
      </p:sp>
      <p:sp>
        <p:nvSpPr>
          <p:cNvPr id="19" name="Text 17"/>
          <p:cNvSpPr/>
          <p:nvPr/>
        </p:nvSpPr>
        <p:spPr>
          <a:xfrm>
            <a:off x="6483096" y="2258568"/>
            <a:ext cx="1691640" cy="320040"/>
          </a:xfrm>
          <a:prstGeom prst="rect">
            <a:avLst/>
          </a:prstGeom>
          <a:noFill/>
        </p:spPr>
        <p:txBody>
          <a:bodyPr wrap="square" rtlCol="0" anchor="ctr"/>
          <a:lstStyle/>
          <a:p>
            <a:pPr marL="0" indent="0" algn="ctr">
              <a:buNone/>
            </a:pPr>
            <a:r>
              <a:rPr lang="en-US" sz="950" dirty="0">
                <a:solidFill>
                  <a:srgbClr val="9AA7B3"/>
                </a:solidFill>
                <a:latin typeface="Calibri" panose="020F0502020204030204" pitchFamily="34" charset="0"/>
                <a:ea typeface="Calibri" panose="020F0502020204030204" pitchFamily="34" charset="-122"/>
                <a:cs typeface="Calibri" panose="020F0502020204030204" pitchFamily="34" charset="-120"/>
              </a:rPr>
              <a:t>Files + metadata</a:t>
            </a:r>
            <a:endParaRPr lang="en-US" sz="950" dirty="0"/>
          </a:p>
        </p:txBody>
      </p:sp>
      <p:sp>
        <p:nvSpPr>
          <p:cNvPr id="20" name="Shape 18"/>
          <p:cNvSpPr/>
          <p:nvPr/>
        </p:nvSpPr>
        <p:spPr>
          <a:xfrm>
            <a:off x="4572000" y="3154680"/>
            <a:ext cx="2880360" cy="777240"/>
          </a:xfrm>
          <a:prstGeom prst="roundRect">
            <a:avLst>
              <a:gd name="adj" fmla="val 7059"/>
            </a:avLst>
          </a:prstGeom>
          <a:solidFill>
            <a:srgbClr val="1B2430"/>
          </a:solidFill>
          <a:ln w="15875">
            <a:solidFill>
              <a:srgbClr val="4F7A63"/>
            </a:solidFill>
            <a:prstDash val="solid"/>
          </a:ln>
        </p:spPr>
      </p:sp>
      <p:sp>
        <p:nvSpPr>
          <p:cNvPr id="21" name="Text 19"/>
          <p:cNvSpPr/>
          <p:nvPr/>
        </p:nvSpPr>
        <p:spPr>
          <a:xfrm>
            <a:off x="4572000" y="3246120"/>
            <a:ext cx="2880360" cy="320040"/>
          </a:xfrm>
          <a:prstGeom prst="rect">
            <a:avLst/>
          </a:prstGeom>
          <a:noFill/>
        </p:spPr>
        <p:txBody>
          <a:bodyPr wrap="square" rtlCol="0" anchor="ctr"/>
          <a:lstStyle/>
          <a:p>
            <a:pPr marL="0" indent="0" algn="ctr">
              <a:buNone/>
            </a:pPr>
            <a:r>
              <a:rPr lang="en-US" sz="1200" b="1" dirty="0">
                <a:solidFill>
                  <a:srgbClr val="ECE6D8"/>
                </a:solidFill>
                <a:latin typeface="Cambria" panose="02040503050406030204" pitchFamily="34" charset="0"/>
                <a:ea typeface="Cambria" panose="02040503050406030204" pitchFamily="34" charset="-122"/>
                <a:cs typeface="Cambria" panose="02040503050406030204" pitchFamily="34" charset="-120"/>
              </a:rPr>
              <a:t>S3 ObjectCreated event</a:t>
            </a:r>
            <a:endParaRPr lang="en-US" sz="1200" dirty="0"/>
          </a:p>
        </p:txBody>
      </p:sp>
      <p:sp>
        <p:nvSpPr>
          <p:cNvPr id="22" name="Text 20"/>
          <p:cNvSpPr/>
          <p:nvPr/>
        </p:nvSpPr>
        <p:spPr>
          <a:xfrm>
            <a:off x="4572000" y="3566160"/>
            <a:ext cx="2880360" cy="320040"/>
          </a:xfrm>
          <a:prstGeom prst="rect">
            <a:avLst/>
          </a:prstGeom>
          <a:noFill/>
        </p:spPr>
        <p:txBody>
          <a:bodyPr wrap="square" rtlCol="0" anchor="ctr"/>
          <a:lstStyle/>
          <a:p>
            <a:pPr marL="0" indent="0" algn="ctr">
              <a:buNone/>
            </a:pPr>
            <a:r>
              <a:rPr lang="en-US" sz="950" dirty="0">
                <a:solidFill>
                  <a:srgbClr val="9AA7B3"/>
                </a:solidFill>
                <a:latin typeface="Calibri" panose="020F0502020204030204" pitchFamily="34" charset="0"/>
                <a:ea typeface="Calibri" panose="020F0502020204030204" pitchFamily="34" charset="-122"/>
                <a:cs typeface="Calibri" panose="020F0502020204030204" pitchFamily="34" charset="-120"/>
              </a:rPr>
              <a:t>→ Lambda marks the record UPLOADED</a:t>
            </a:r>
            <a:endParaRPr lang="en-US" sz="950" dirty="0"/>
          </a:p>
        </p:txBody>
      </p:sp>
      <p:sp>
        <p:nvSpPr>
          <p:cNvPr id="23" name="Shape 21"/>
          <p:cNvSpPr/>
          <p:nvPr/>
        </p:nvSpPr>
        <p:spPr>
          <a:xfrm>
            <a:off x="6012180" y="2651760"/>
            <a:ext cx="0" cy="502920"/>
          </a:xfrm>
          <a:prstGeom prst="line">
            <a:avLst/>
          </a:prstGeom>
          <a:noFill/>
          <a:ln w="19050">
            <a:solidFill>
              <a:srgbClr val="4F7A63"/>
            </a:solidFill>
            <a:prstDash val="dash"/>
          </a:ln>
        </p:spPr>
      </p:sp>
      <p:sp>
        <p:nvSpPr>
          <p:cNvPr id="24" name="Text 22"/>
          <p:cNvSpPr/>
          <p:nvPr/>
        </p:nvSpPr>
        <p:spPr>
          <a:xfrm>
            <a:off x="640080" y="4206240"/>
            <a:ext cx="4937760" cy="822960"/>
          </a:xfrm>
          <a:prstGeom prst="rect">
            <a:avLst/>
          </a:prstGeom>
          <a:noFill/>
        </p:spPr>
        <p:txBody>
          <a:bodyPr wrap="square" rtlCol="0" anchor="ctr"/>
          <a:lstStyle/>
          <a:p>
            <a:pPr marL="0" indent="0">
              <a:lnSpc>
                <a:spcPts val="1500"/>
              </a:lnSpc>
              <a:buNone/>
            </a:pPr>
            <a:r>
              <a:rPr lang="en-US" sz="1150" dirty="0">
                <a:solidFill>
                  <a:srgbClr val="9AA7B3"/>
                </a:solidFill>
                <a:latin typeface="Calibri" panose="020F0502020204030204" pitchFamily="34" charset="0"/>
                <a:ea typeface="Calibri" panose="020F0502020204030204" pitchFamily="34" charset="-122"/>
                <a:cs typeface="Calibri" panose="020F0502020204030204" pitchFamily="34" charset="-120"/>
              </a:rPr>
              <a:t>CloudWatch watches every layer — API access logs, Lambda execution logs and metrics, S3 event delivery — so failures surface immediately.</a:t>
            </a:r>
            <a:endParaRPr lang="en-US" sz="1150" dirty="0"/>
          </a:p>
        </p:txBody>
      </p:sp>
      <p:sp>
        <p:nvSpPr>
          <p:cNvPr id="25" name="Shape 23"/>
          <p:cNvSpPr/>
          <p:nvPr/>
        </p:nvSpPr>
        <p:spPr>
          <a:xfrm>
            <a:off x="640080" y="5074920"/>
            <a:ext cx="502920" cy="502920"/>
          </a:xfrm>
          <a:prstGeom prst="ellipse">
            <a:avLst/>
          </a:prstGeom>
          <a:solidFill>
            <a:srgbClr val="8F3821"/>
          </a:solidFill>
        </p:spPr>
      </p:sp>
      <p:pic>
        <p:nvPicPr>
          <p:cNvPr id="26" name="Image 0" descr="/home/claude/icons/cloud_upload_cream.png"/>
          <p:cNvPicPr>
            <a:picLocks noChangeAspect="1"/>
          </p:cNvPicPr>
          <p:nvPr/>
        </p:nvPicPr>
        <p:blipFill>
          <a:blip r:embed="rId1"/>
          <a:stretch>
            <a:fillRect/>
          </a:stretch>
        </p:blipFill>
        <p:spPr>
          <a:xfrm>
            <a:off x="705460" y="5140300"/>
            <a:ext cx="372161" cy="372161"/>
          </a:xfrm>
          <a:prstGeom prst="rect">
            <a:avLst/>
          </a:prstGeom>
        </p:spPr>
      </p:pic>
      <p:sp>
        <p:nvSpPr>
          <p:cNvPr id="27" name="Text 24"/>
          <p:cNvSpPr/>
          <p:nvPr/>
        </p:nvSpPr>
        <p:spPr>
          <a:xfrm>
            <a:off x="502920" y="5623560"/>
            <a:ext cx="1783080" cy="320040"/>
          </a:xfrm>
          <a:prstGeom prst="rect">
            <a:avLst/>
          </a:prstGeom>
          <a:noFill/>
        </p:spPr>
        <p:txBody>
          <a:bodyPr wrap="square" rtlCol="0" anchor="ctr"/>
          <a:lstStyle/>
          <a:p>
            <a:pPr marL="0" indent="0" algn="ctr">
              <a:buNone/>
            </a:pPr>
            <a:r>
              <a:rPr lang="en-US" sz="10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S3</a:t>
            </a:r>
            <a:endParaRPr lang="en-US" sz="1050" dirty="0"/>
          </a:p>
        </p:txBody>
      </p:sp>
      <p:sp>
        <p:nvSpPr>
          <p:cNvPr id="28" name="Shape 25"/>
          <p:cNvSpPr/>
          <p:nvPr/>
        </p:nvSpPr>
        <p:spPr>
          <a:xfrm>
            <a:off x="2331720" y="5074920"/>
            <a:ext cx="502920" cy="502920"/>
          </a:xfrm>
          <a:prstGeom prst="ellipse">
            <a:avLst/>
          </a:prstGeom>
          <a:solidFill>
            <a:srgbClr val="8F3821"/>
          </a:solidFill>
        </p:spPr>
      </p:sp>
      <p:pic>
        <p:nvPicPr>
          <p:cNvPr id="29" name="Image 1" descr="/home/claude/icons/database_cream.png"/>
          <p:cNvPicPr>
            <a:picLocks noChangeAspect="1"/>
          </p:cNvPicPr>
          <p:nvPr/>
        </p:nvPicPr>
        <p:blipFill>
          <a:blip r:embed="rId2"/>
          <a:stretch>
            <a:fillRect/>
          </a:stretch>
        </p:blipFill>
        <p:spPr>
          <a:xfrm>
            <a:off x="2397100" y="5140300"/>
            <a:ext cx="372161" cy="372161"/>
          </a:xfrm>
          <a:prstGeom prst="rect">
            <a:avLst/>
          </a:prstGeom>
        </p:spPr>
      </p:pic>
      <p:sp>
        <p:nvSpPr>
          <p:cNvPr id="30" name="Text 26"/>
          <p:cNvSpPr/>
          <p:nvPr/>
        </p:nvSpPr>
        <p:spPr>
          <a:xfrm>
            <a:off x="2194560" y="5623560"/>
            <a:ext cx="1783080" cy="320040"/>
          </a:xfrm>
          <a:prstGeom prst="rect">
            <a:avLst/>
          </a:prstGeom>
          <a:noFill/>
        </p:spPr>
        <p:txBody>
          <a:bodyPr wrap="square" rtlCol="0" anchor="ctr"/>
          <a:lstStyle/>
          <a:p>
            <a:pPr marL="0" indent="0" algn="ctr">
              <a:buNone/>
            </a:pPr>
            <a:r>
              <a:rPr lang="en-US" sz="10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DynamoDB</a:t>
            </a:r>
            <a:endParaRPr lang="en-US" sz="1050" dirty="0"/>
          </a:p>
        </p:txBody>
      </p:sp>
      <p:sp>
        <p:nvSpPr>
          <p:cNvPr id="31" name="Shape 27"/>
          <p:cNvSpPr/>
          <p:nvPr/>
        </p:nvSpPr>
        <p:spPr>
          <a:xfrm>
            <a:off x="4023360" y="5074920"/>
            <a:ext cx="502920" cy="502920"/>
          </a:xfrm>
          <a:prstGeom prst="ellipse">
            <a:avLst/>
          </a:prstGeom>
          <a:solidFill>
            <a:srgbClr val="8F3821"/>
          </a:solidFill>
        </p:spPr>
      </p:sp>
      <p:pic>
        <p:nvPicPr>
          <p:cNvPr id="32" name="Image 2" descr="/home/claude/icons/bolt_cream.png"/>
          <p:cNvPicPr>
            <a:picLocks noChangeAspect="1"/>
          </p:cNvPicPr>
          <p:nvPr/>
        </p:nvPicPr>
        <p:blipFill>
          <a:blip r:embed="rId3"/>
          <a:stretch>
            <a:fillRect/>
          </a:stretch>
        </p:blipFill>
        <p:spPr>
          <a:xfrm>
            <a:off x="4088740" y="5140300"/>
            <a:ext cx="372161" cy="372161"/>
          </a:xfrm>
          <a:prstGeom prst="rect">
            <a:avLst/>
          </a:prstGeom>
        </p:spPr>
      </p:pic>
      <p:sp>
        <p:nvSpPr>
          <p:cNvPr id="33" name="Text 28"/>
          <p:cNvSpPr/>
          <p:nvPr/>
        </p:nvSpPr>
        <p:spPr>
          <a:xfrm>
            <a:off x="3886200" y="5623560"/>
            <a:ext cx="1783080" cy="320040"/>
          </a:xfrm>
          <a:prstGeom prst="rect">
            <a:avLst/>
          </a:prstGeom>
          <a:noFill/>
        </p:spPr>
        <p:txBody>
          <a:bodyPr wrap="square" rtlCol="0" anchor="ctr"/>
          <a:lstStyle/>
          <a:p>
            <a:pPr marL="0" indent="0" algn="ctr">
              <a:buNone/>
            </a:pPr>
            <a:r>
              <a:rPr lang="en-US" sz="10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API Gateway</a:t>
            </a:r>
            <a:endParaRPr lang="en-US" sz="1050" dirty="0"/>
          </a:p>
        </p:txBody>
      </p:sp>
      <p:sp>
        <p:nvSpPr>
          <p:cNvPr id="34" name="Shape 29"/>
          <p:cNvSpPr/>
          <p:nvPr/>
        </p:nvSpPr>
        <p:spPr>
          <a:xfrm>
            <a:off x="5715000" y="5074920"/>
            <a:ext cx="502920" cy="502920"/>
          </a:xfrm>
          <a:prstGeom prst="ellipse">
            <a:avLst/>
          </a:prstGeom>
          <a:solidFill>
            <a:srgbClr val="8F3821"/>
          </a:solidFill>
        </p:spPr>
      </p:sp>
      <p:pic>
        <p:nvPicPr>
          <p:cNvPr id="35" name="Image 3" descr="/home/claude/icons/server_cream.png"/>
          <p:cNvPicPr>
            <a:picLocks noChangeAspect="1"/>
          </p:cNvPicPr>
          <p:nvPr/>
        </p:nvPicPr>
        <p:blipFill>
          <a:blip r:embed="rId4"/>
          <a:stretch>
            <a:fillRect/>
          </a:stretch>
        </p:blipFill>
        <p:spPr>
          <a:xfrm>
            <a:off x="5780380" y="5140300"/>
            <a:ext cx="372161" cy="372161"/>
          </a:xfrm>
          <a:prstGeom prst="rect">
            <a:avLst/>
          </a:prstGeom>
        </p:spPr>
      </p:pic>
      <p:sp>
        <p:nvSpPr>
          <p:cNvPr id="36" name="Text 30"/>
          <p:cNvSpPr/>
          <p:nvPr/>
        </p:nvSpPr>
        <p:spPr>
          <a:xfrm>
            <a:off x="5577840" y="5623560"/>
            <a:ext cx="1783080" cy="320040"/>
          </a:xfrm>
          <a:prstGeom prst="rect">
            <a:avLst/>
          </a:prstGeom>
          <a:noFill/>
        </p:spPr>
        <p:txBody>
          <a:bodyPr wrap="square" rtlCol="0" anchor="ctr"/>
          <a:lstStyle/>
          <a:p>
            <a:pPr marL="0" indent="0" algn="ctr">
              <a:buNone/>
            </a:pPr>
            <a:r>
              <a:rPr lang="en-US" sz="10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Lambda</a:t>
            </a:r>
            <a:endParaRPr lang="en-US" sz="1050" dirty="0"/>
          </a:p>
        </p:txBody>
      </p:sp>
      <p:sp>
        <p:nvSpPr>
          <p:cNvPr id="37" name="Shape 31"/>
          <p:cNvSpPr/>
          <p:nvPr/>
        </p:nvSpPr>
        <p:spPr>
          <a:xfrm>
            <a:off x="7406640" y="5074920"/>
            <a:ext cx="502920" cy="502920"/>
          </a:xfrm>
          <a:prstGeom prst="ellipse">
            <a:avLst/>
          </a:prstGeom>
          <a:solidFill>
            <a:srgbClr val="8F3821"/>
          </a:solidFill>
        </p:spPr>
      </p:sp>
      <p:pic>
        <p:nvPicPr>
          <p:cNvPr id="38" name="Image 4" descr="/home/claude/icons/shield_cream.png"/>
          <p:cNvPicPr>
            <a:picLocks noChangeAspect="1"/>
          </p:cNvPicPr>
          <p:nvPr/>
        </p:nvPicPr>
        <p:blipFill>
          <a:blip r:embed="rId5"/>
          <a:stretch>
            <a:fillRect/>
          </a:stretch>
        </p:blipFill>
        <p:spPr>
          <a:xfrm>
            <a:off x="7472020" y="5140300"/>
            <a:ext cx="372161" cy="372161"/>
          </a:xfrm>
          <a:prstGeom prst="rect">
            <a:avLst/>
          </a:prstGeom>
        </p:spPr>
      </p:pic>
      <p:sp>
        <p:nvSpPr>
          <p:cNvPr id="39" name="Text 32"/>
          <p:cNvSpPr/>
          <p:nvPr/>
        </p:nvSpPr>
        <p:spPr>
          <a:xfrm>
            <a:off x="7269480" y="5623560"/>
            <a:ext cx="1783080" cy="320040"/>
          </a:xfrm>
          <a:prstGeom prst="rect">
            <a:avLst/>
          </a:prstGeom>
          <a:noFill/>
        </p:spPr>
        <p:txBody>
          <a:bodyPr wrap="square" rtlCol="0" anchor="ctr"/>
          <a:lstStyle/>
          <a:p>
            <a:pPr marL="0" indent="0" algn="ctr">
              <a:buNone/>
            </a:pPr>
            <a:r>
              <a:rPr lang="en-US" sz="10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IAM</a:t>
            </a:r>
            <a:endParaRPr lang="en-US" sz="1050" dirty="0"/>
          </a:p>
        </p:txBody>
      </p:sp>
      <p:sp>
        <p:nvSpPr>
          <p:cNvPr id="40" name="Shape 33"/>
          <p:cNvSpPr/>
          <p:nvPr/>
        </p:nvSpPr>
        <p:spPr>
          <a:xfrm>
            <a:off x="9098280" y="5074920"/>
            <a:ext cx="502920" cy="502920"/>
          </a:xfrm>
          <a:prstGeom prst="ellipse">
            <a:avLst/>
          </a:prstGeom>
          <a:solidFill>
            <a:srgbClr val="8F3821"/>
          </a:solidFill>
        </p:spPr>
      </p:sp>
      <p:pic>
        <p:nvPicPr>
          <p:cNvPr id="41" name="Image 5" descr="/home/claude/icons/eye_cream.png"/>
          <p:cNvPicPr>
            <a:picLocks noChangeAspect="1"/>
          </p:cNvPicPr>
          <p:nvPr/>
        </p:nvPicPr>
        <p:blipFill>
          <a:blip r:embed="rId6"/>
          <a:stretch>
            <a:fillRect/>
          </a:stretch>
        </p:blipFill>
        <p:spPr>
          <a:xfrm>
            <a:off x="9163660" y="5140300"/>
            <a:ext cx="372161" cy="372161"/>
          </a:xfrm>
          <a:prstGeom prst="rect">
            <a:avLst/>
          </a:prstGeom>
        </p:spPr>
      </p:pic>
      <p:sp>
        <p:nvSpPr>
          <p:cNvPr id="42" name="Text 34"/>
          <p:cNvSpPr/>
          <p:nvPr/>
        </p:nvSpPr>
        <p:spPr>
          <a:xfrm>
            <a:off x="8961120" y="5623560"/>
            <a:ext cx="1783080" cy="320040"/>
          </a:xfrm>
          <a:prstGeom prst="rect">
            <a:avLst/>
          </a:prstGeom>
          <a:noFill/>
        </p:spPr>
        <p:txBody>
          <a:bodyPr wrap="square" rtlCol="0" anchor="ctr"/>
          <a:lstStyle/>
          <a:p>
            <a:pPr marL="0" indent="0" algn="ctr">
              <a:buNone/>
            </a:pPr>
            <a:r>
              <a:rPr lang="en-US" sz="10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CloudWatch</a:t>
            </a:r>
            <a:endParaRPr lang="en-US" sz="1050" dirty="0"/>
          </a:p>
        </p:txBody>
      </p:sp>
      <p:sp>
        <p:nvSpPr>
          <p:cNvPr id="43" name="Text 35"/>
          <p:cNvSpPr/>
          <p:nvPr/>
        </p:nvSpPr>
        <p:spPr>
          <a:xfrm>
            <a:off x="457200" y="6528816"/>
            <a:ext cx="6400800" cy="274320"/>
          </a:xfrm>
          <a:prstGeom prst="rect">
            <a:avLst/>
          </a:prstGeom>
          <a:noFill/>
        </p:spPr>
        <p:txBody>
          <a:bodyPr wrap="square" rtlCol="0" anchor="ctr"/>
          <a:lstStyle/>
          <a:p>
            <a:pPr marL="0" indent="0">
              <a:buNone/>
            </a:pPr>
            <a:r>
              <a:rPr lang="en-US" sz="85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CLOUD ASSIGNMENT SUBMISSION PORTAL</a:t>
            </a:r>
            <a:endParaRPr lang="en-US" sz="850" dirty="0"/>
          </a:p>
        </p:txBody>
      </p:sp>
      <p:sp>
        <p:nvSpPr>
          <p:cNvPr id="44" name="Text 36"/>
          <p:cNvSpPr/>
          <p:nvPr/>
        </p:nvSpPr>
        <p:spPr>
          <a:xfrm>
            <a:off x="11274552" y="6528816"/>
            <a:ext cx="457200" cy="274320"/>
          </a:xfrm>
          <a:prstGeom prst="rect">
            <a:avLst/>
          </a:prstGeom>
          <a:noFill/>
        </p:spPr>
        <p:txBody>
          <a:bodyPr wrap="square" rtlCol="0" anchor="ctr"/>
          <a:lstStyle/>
          <a:p>
            <a:pPr marL="0" indent="0" algn="r">
              <a:buNone/>
            </a:pPr>
            <a:r>
              <a:rPr lang="en-US" sz="8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ECE6D8"/>
          </a:solidFill>
        </p:spPr>
      </p:sp>
      <p:sp>
        <p:nvSpPr>
          <p:cNvPr id="3" name="Shape 1"/>
          <p:cNvSpPr/>
          <p:nvPr/>
        </p:nvSpPr>
        <p:spPr>
          <a:xfrm>
            <a:off x="640080" y="502920"/>
            <a:ext cx="1737360" cy="292608"/>
          </a:xfrm>
          <a:prstGeom prst="roundRect">
            <a:avLst>
              <a:gd name="adj" fmla="val 15625"/>
            </a:avLst>
          </a:prstGeom>
          <a:ln w="12700">
            <a:solidFill>
              <a:srgbClr val="B5482E"/>
            </a:solidFill>
            <a:prstDash val="solid"/>
          </a:ln>
        </p:spPr>
      </p:sp>
      <p:sp>
        <p:nvSpPr>
          <p:cNvPr id="4" name="Text 2"/>
          <p:cNvSpPr/>
          <p:nvPr/>
        </p:nvSpPr>
        <p:spPr>
          <a:xfrm>
            <a:off x="640080" y="502920"/>
            <a:ext cx="1737360" cy="292608"/>
          </a:xfrm>
          <a:prstGeom prst="rect">
            <a:avLst/>
          </a:prstGeom>
          <a:noFill/>
        </p:spPr>
        <p:txBody>
          <a:bodyPr wrap="square" rtlCol="0" anchor="ctr"/>
          <a:lstStyle/>
          <a:p>
            <a:pPr marL="0" indent="0" algn="ctr">
              <a:buNone/>
            </a:pPr>
            <a:r>
              <a:rPr lang="en-US" sz="1050" kern="0" spc="100"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05 · SECURITY</a:t>
            </a:r>
            <a:endParaRPr lang="en-US" sz="1050" dirty="0"/>
          </a:p>
        </p:txBody>
      </p:sp>
      <p:sp>
        <p:nvSpPr>
          <p:cNvPr id="5" name="Text 3"/>
          <p:cNvSpPr/>
          <p:nvPr/>
        </p:nvSpPr>
        <p:spPr>
          <a:xfrm>
            <a:off x="640080" y="914400"/>
            <a:ext cx="9601200" cy="640080"/>
          </a:xfrm>
          <a:prstGeom prst="rect">
            <a:avLst/>
          </a:prstGeom>
          <a:noFill/>
        </p:spPr>
        <p:txBody>
          <a:bodyPr wrap="square" rtlCol="0" anchor="ctr"/>
          <a:lstStyle/>
          <a:p>
            <a:pPr marL="0" indent="0">
              <a:buNone/>
            </a:pPr>
            <a:r>
              <a:rPr lang="en-US" sz="2700" b="1" dirty="0">
                <a:solidFill>
                  <a:srgbClr val="24211B"/>
                </a:solidFill>
                <a:latin typeface="Cambria" panose="02040503050406030204" pitchFamily="34" charset="0"/>
                <a:ea typeface="Cambria" panose="02040503050406030204" pitchFamily="34" charset="-122"/>
                <a:cs typeface="Cambria" panose="02040503050406030204" pitchFamily="34" charset="-120"/>
              </a:rPr>
              <a:t>Built to be trusted with student work</a:t>
            </a:r>
            <a:endParaRPr lang="en-US" sz="2700" dirty="0"/>
          </a:p>
        </p:txBody>
      </p:sp>
      <p:sp>
        <p:nvSpPr>
          <p:cNvPr id="6" name="Shape 4"/>
          <p:cNvSpPr/>
          <p:nvPr/>
        </p:nvSpPr>
        <p:spPr>
          <a:xfrm>
            <a:off x="640080" y="1874520"/>
            <a:ext cx="5074920" cy="1783080"/>
          </a:xfrm>
          <a:prstGeom prst="roundRect">
            <a:avLst>
              <a:gd name="adj" fmla="val 2564"/>
            </a:avLst>
          </a:prstGeom>
          <a:solidFill>
            <a:srgbClr val="FBF9F3"/>
          </a:solidFill>
          <a:ln w="12700">
            <a:solidFill>
              <a:srgbClr val="D8CFB8"/>
            </a:solidFill>
            <a:prstDash val="solid"/>
          </a:ln>
        </p:spPr>
      </p:sp>
      <p:sp>
        <p:nvSpPr>
          <p:cNvPr id="7" name="Shape 5"/>
          <p:cNvSpPr/>
          <p:nvPr/>
        </p:nvSpPr>
        <p:spPr>
          <a:xfrm>
            <a:off x="896112" y="2130552"/>
            <a:ext cx="530352" cy="530352"/>
          </a:xfrm>
          <a:prstGeom prst="ellipse">
            <a:avLst/>
          </a:prstGeom>
          <a:solidFill>
            <a:srgbClr val="C9A227"/>
          </a:solidFill>
        </p:spPr>
      </p:sp>
      <p:pic>
        <p:nvPicPr>
          <p:cNvPr id="8" name="Image 0" descr="/home/claude/icons/key_ink.png"/>
          <p:cNvPicPr>
            <a:picLocks noChangeAspect="1"/>
          </p:cNvPicPr>
          <p:nvPr/>
        </p:nvPicPr>
        <p:blipFill>
          <a:blip r:embed="rId1"/>
          <a:stretch>
            <a:fillRect/>
          </a:stretch>
        </p:blipFill>
        <p:spPr>
          <a:xfrm>
            <a:off x="965058" y="2199498"/>
            <a:ext cx="392460" cy="392460"/>
          </a:xfrm>
          <a:prstGeom prst="rect">
            <a:avLst/>
          </a:prstGeom>
        </p:spPr>
      </p:pic>
      <p:sp>
        <p:nvSpPr>
          <p:cNvPr id="9" name="Text 6"/>
          <p:cNvSpPr/>
          <p:nvPr/>
        </p:nvSpPr>
        <p:spPr>
          <a:xfrm>
            <a:off x="1600200" y="2130552"/>
            <a:ext cx="3886200" cy="365760"/>
          </a:xfrm>
          <a:prstGeom prst="rect">
            <a:avLst/>
          </a:prstGeom>
          <a:noFill/>
        </p:spPr>
        <p:txBody>
          <a:bodyPr wrap="square" rtlCol="0" anchor="ctr"/>
          <a:lstStyle/>
          <a:p>
            <a:pPr marL="0" indent="0">
              <a:buNone/>
            </a:pPr>
            <a:r>
              <a:rPr lang="en-US" sz="1550" b="1" dirty="0">
                <a:solidFill>
                  <a:srgbClr val="24211B"/>
                </a:solidFill>
                <a:latin typeface="Cambria" panose="02040503050406030204" pitchFamily="34" charset="0"/>
                <a:ea typeface="Cambria" panose="02040503050406030204" pitchFamily="34" charset="-122"/>
                <a:cs typeface="Cambria" panose="02040503050406030204" pitchFamily="34" charset="-120"/>
              </a:rPr>
              <a:t>Time-boxed URLs</a:t>
            </a:r>
            <a:endParaRPr lang="en-US" sz="1550" dirty="0"/>
          </a:p>
        </p:txBody>
      </p:sp>
      <p:sp>
        <p:nvSpPr>
          <p:cNvPr id="10" name="Text 7"/>
          <p:cNvSpPr/>
          <p:nvPr/>
        </p:nvSpPr>
        <p:spPr>
          <a:xfrm>
            <a:off x="896112" y="2743200"/>
            <a:ext cx="4572000" cy="777240"/>
          </a:xfrm>
          <a:prstGeom prst="rect">
            <a:avLst/>
          </a:prstGeom>
          <a:noFill/>
        </p:spPr>
        <p:txBody>
          <a:bodyPr wrap="square" rtlCol="0" anchor="ctr"/>
          <a:lstStyle/>
          <a:p>
            <a:pPr marL="0" indent="0">
              <a:lnSpc>
                <a:spcPts val="1500"/>
              </a:lnSpc>
              <a:buNone/>
            </a:pPr>
            <a:r>
              <a:rPr lang="en-US" sz="1150" dirty="0">
                <a:solidFill>
                  <a:srgbClr val="6B6355"/>
                </a:solidFill>
                <a:latin typeface="Calibri" panose="020F0502020204030204" pitchFamily="34" charset="0"/>
                <a:ea typeface="Calibri" panose="020F0502020204030204" pitchFamily="34" charset="-122"/>
                <a:cs typeface="Calibri" panose="020F0502020204030204" pitchFamily="34" charset="-120"/>
              </a:rPr>
              <a:t>Presigned S3 links expire in minutes — no permanent public access to the bucket.</a:t>
            </a:r>
            <a:endParaRPr lang="en-US" sz="1150" dirty="0"/>
          </a:p>
        </p:txBody>
      </p:sp>
      <p:sp>
        <p:nvSpPr>
          <p:cNvPr id="11" name="Shape 8"/>
          <p:cNvSpPr/>
          <p:nvPr/>
        </p:nvSpPr>
        <p:spPr>
          <a:xfrm>
            <a:off x="6080760" y="1874520"/>
            <a:ext cx="5074920" cy="1783080"/>
          </a:xfrm>
          <a:prstGeom prst="roundRect">
            <a:avLst>
              <a:gd name="adj" fmla="val 2564"/>
            </a:avLst>
          </a:prstGeom>
          <a:solidFill>
            <a:srgbClr val="FBF9F3"/>
          </a:solidFill>
          <a:ln w="12700">
            <a:solidFill>
              <a:srgbClr val="D8CFB8"/>
            </a:solidFill>
            <a:prstDash val="solid"/>
          </a:ln>
        </p:spPr>
      </p:sp>
      <p:sp>
        <p:nvSpPr>
          <p:cNvPr id="12" name="Shape 9"/>
          <p:cNvSpPr/>
          <p:nvPr/>
        </p:nvSpPr>
        <p:spPr>
          <a:xfrm>
            <a:off x="6336792" y="2130552"/>
            <a:ext cx="530352" cy="530352"/>
          </a:xfrm>
          <a:prstGeom prst="ellipse">
            <a:avLst/>
          </a:prstGeom>
          <a:solidFill>
            <a:srgbClr val="C9A227"/>
          </a:solidFill>
        </p:spPr>
      </p:sp>
      <p:pic>
        <p:nvPicPr>
          <p:cNvPr id="13" name="Image 1" descr="/home/claude/icons/shield_ink.png"/>
          <p:cNvPicPr>
            <a:picLocks noChangeAspect="1"/>
          </p:cNvPicPr>
          <p:nvPr/>
        </p:nvPicPr>
        <p:blipFill>
          <a:blip r:embed="rId2"/>
          <a:stretch>
            <a:fillRect/>
          </a:stretch>
        </p:blipFill>
        <p:spPr>
          <a:xfrm>
            <a:off x="6405738" y="2199498"/>
            <a:ext cx="392460" cy="392460"/>
          </a:xfrm>
          <a:prstGeom prst="rect">
            <a:avLst/>
          </a:prstGeom>
        </p:spPr>
      </p:pic>
      <p:sp>
        <p:nvSpPr>
          <p:cNvPr id="14" name="Text 10"/>
          <p:cNvSpPr/>
          <p:nvPr/>
        </p:nvSpPr>
        <p:spPr>
          <a:xfrm>
            <a:off x="7040880" y="2130552"/>
            <a:ext cx="3886200" cy="365760"/>
          </a:xfrm>
          <a:prstGeom prst="rect">
            <a:avLst/>
          </a:prstGeom>
          <a:noFill/>
        </p:spPr>
        <p:txBody>
          <a:bodyPr wrap="square" rtlCol="0" anchor="ctr"/>
          <a:lstStyle/>
          <a:p>
            <a:pPr marL="0" indent="0">
              <a:buNone/>
            </a:pPr>
            <a:r>
              <a:rPr lang="en-US" sz="1550" b="1" dirty="0">
                <a:solidFill>
                  <a:srgbClr val="24211B"/>
                </a:solidFill>
                <a:latin typeface="Cambria" panose="02040503050406030204" pitchFamily="34" charset="0"/>
                <a:ea typeface="Cambria" panose="02040503050406030204" pitchFamily="34" charset="-122"/>
                <a:cs typeface="Cambria" panose="02040503050406030204" pitchFamily="34" charset="-120"/>
              </a:rPr>
              <a:t>Least-privilege IAM</a:t>
            </a:r>
            <a:endParaRPr lang="en-US" sz="1550" dirty="0"/>
          </a:p>
        </p:txBody>
      </p:sp>
      <p:sp>
        <p:nvSpPr>
          <p:cNvPr id="15" name="Text 11"/>
          <p:cNvSpPr/>
          <p:nvPr/>
        </p:nvSpPr>
        <p:spPr>
          <a:xfrm>
            <a:off x="6336792" y="2743200"/>
            <a:ext cx="4572000" cy="777240"/>
          </a:xfrm>
          <a:prstGeom prst="rect">
            <a:avLst/>
          </a:prstGeom>
          <a:noFill/>
        </p:spPr>
        <p:txBody>
          <a:bodyPr wrap="square" rtlCol="0" anchor="ctr"/>
          <a:lstStyle/>
          <a:p>
            <a:pPr marL="0" indent="0">
              <a:lnSpc>
                <a:spcPts val="1500"/>
              </a:lnSpc>
              <a:buNone/>
            </a:pPr>
            <a:r>
              <a:rPr lang="en-US" sz="1150" dirty="0">
                <a:solidFill>
                  <a:srgbClr val="6B6355"/>
                </a:solidFill>
                <a:latin typeface="Calibri" panose="020F0502020204030204" pitchFamily="34" charset="0"/>
                <a:ea typeface="Calibri" panose="020F0502020204030204" pitchFamily="34" charset="-122"/>
                <a:cs typeface="Calibri" panose="020F0502020204030204" pitchFamily="34" charset="-120"/>
              </a:rPr>
              <a:t>Each Lambda only holds the exact S3 and DynamoDB permissions its job needs.</a:t>
            </a:r>
            <a:endParaRPr lang="en-US" sz="1150" dirty="0"/>
          </a:p>
        </p:txBody>
      </p:sp>
      <p:sp>
        <p:nvSpPr>
          <p:cNvPr id="16" name="Shape 12"/>
          <p:cNvSpPr/>
          <p:nvPr/>
        </p:nvSpPr>
        <p:spPr>
          <a:xfrm>
            <a:off x="640080" y="3977640"/>
            <a:ext cx="5074920" cy="1783080"/>
          </a:xfrm>
          <a:prstGeom prst="roundRect">
            <a:avLst>
              <a:gd name="adj" fmla="val 2564"/>
            </a:avLst>
          </a:prstGeom>
          <a:solidFill>
            <a:srgbClr val="FBF9F3"/>
          </a:solidFill>
          <a:ln w="12700">
            <a:solidFill>
              <a:srgbClr val="D8CFB8"/>
            </a:solidFill>
            <a:prstDash val="solid"/>
          </a:ln>
        </p:spPr>
      </p:sp>
      <p:sp>
        <p:nvSpPr>
          <p:cNvPr id="17" name="Shape 13"/>
          <p:cNvSpPr/>
          <p:nvPr/>
        </p:nvSpPr>
        <p:spPr>
          <a:xfrm>
            <a:off x="896112" y="4233672"/>
            <a:ext cx="530352" cy="530352"/>
          </a:xfrm>
          <a:prstGeom prst="ellipse">
            <a:avLst/>
          </a:prstGeom>
          <a:solidFill>
            <a:srgbClr val="C9A227"/>
          </a:solidFill>
        </p:spPr>
      </p:sp>
      <p:pic>
        <p:nvPicPr>
          <p:cNvPr id="18" name="Image 2" descr="/home/claude/icons/lock_ink.png"/>
          <p:cNvPicPr>
            <a:picLocks noChangeAspect="1"/>
          </p:cNvPicPr>
          <p:nvPr/>
        </p:nvPicPr>
        <p:blipFill>
          <a:blip r:embed="rId3"/>
          <a:stretch>
            <a:fillRect/>
          </a:stretch>
        </p:blipFill>
        <p:spPr>
          <a:xfrm>
            <a:off x="965058" y="4302618"/>
            <a:ext cx="392460" cy="392460"/>
          </a:xfrm>
          <a:prstGeom prst="rect">
            <a:avLst/>
          </a:prstGeom>
        </p:spPr>
      </p:pic>
      <p:sp>
        <p:nvSpPr>
          <p:cNvPr id="19" name="Text 14"/>
          <p:cNvSpPr/>
          <p:nvPr/>
        </p:nvSpPr>
        <p:spPr>
          <a:xfrm>
            <a:off x="1600200" y="4233672"/>
            <a:ext cx="3886200" cy="365760"/>
          </a:xfrm>
          <a:prstGeom prst="rect">
            <a:avLst/>
          </a:prstGeom>
          <a:noFill/>
        </p:spPr>
        <p:txBody>
          <a:bodyPr wrap="square" rtlCol="0" anchor="ctr"/>
          <a:lstStyle/>
          <a:p>
            <a:pPr marL="0" indent="0">
              <a:buNone/>
            </a:pPr>
            <a:r>
              <a:rPr lang="en-US" sz="1550" b="1" dirty="0">
                <a:solidFill>
                  <a:srgbClr val="24211B"/>
                </a:solidFill>
                <a:latin typeface="Cambria" panose="02040503050406030204" pitchFamily="34" charset="0"/>
                <a:ea typeface="Cambria" panose="02040503050406030204" pitchFamily="34" charset="-122"/>
                <a:cs typeface="Cambria" panose="02040503050406030204" pitchFamily="34" charset="-120"/>
              </a:rPr>
              <a:t>Gated lecturer view</a:t>
            </a:r>
            <a:endParaRPr lang="en-US" sz="1550" dirty="0"/>
          </a:p>
        </p:txBody>
      </p:sp>
      <p:sp>
        <p:nvSpPr>
          <p:cNvPr id="20" name="Text 15"/>
          <p:cNvSpPr/>
          <p:nvPr/>
        </p:nvSpPr>
        <p:spPr>
          <a:xfrm>
            <a:off x="896112" y="4846320"/>
            <a:ext cx="4572000" cy="777240"/>
          </a:xfrm>
          <a:prstGeom prst="rect">
            <a:avLst/>
          </a:prstGeom>
          <a:noFill/>
        </p:spPr>
        <p:txBody>
          <a:bodyPr wrap="square" rtlCol="0" anchor="ctr"/>
          <a:lstStyle/>
          <a:p>
            <a:pPr marL="0" indent="0">
              <a:lnSpc>
                <a:spcPts val="1500"/>
              </a:lnSpc>
              <a:buNone/>
            </a:pPr>
            <a:r>
              <a:rPr lang="en-US" sz="1150" dirty="0">
                <a:solidFill>
                  <a:srgbClr val="6B6355"/>
                </a:solidFill>
                <a:latin typeface="Calibri" panose="020F0502020204030204" pitchFamily="34" charset="0"/>
                <a:ea typeface="Calibri" panose="020F0502020204030204" pitchFamily="34" charset="-122"/>
                <a:cs typeface="Calibri" panose="020F0502020204030204" pitchFamily="34" charset="-120"/>
              </a:rPr>
              <a:t>The review ledger sits behind an access code today, ready to swap for Cognito login.</a:t>
            </a:r>
            <a:endParaRPr lang="en-US" sz="1150" dirty="0"/>
          </a:p>
        </p:txBody>
      </p:sp>
      <p:sp>
        <p:nvSpPr>
          <p:cNvPr id="21" name="Shape 16"/>
          <p:cNvSpPr/>
          <p:nvPr/>
        </p:nvSpPr>
        <p:spPr>
          <a:xfrm>
            <a:off x="6080760" y="3977640"/>
            <a:ext cx="5074920" cy="1783080"/>
          </a:xfrm>
          <a:prstGeom prst="roundRect">
            <a:avLst>
              <a:gd name="adj" fmla="val 2564"/>
            </a:avLst>
          </a:prstGeom>
          <a:solidFill>
            <a:srgbClr val="FBF9F3"/>
          </a:solidFill>
          <a:ln w="12700">
            <a:solidFill>
              <a:srgbClr val="D8CFB8"/>
            </a:solidFill>
            <a:prstDash val="solid"/>
          </a:ln>
        </p:spPr>
      </p:sp>
      <p:sp>
        <p:nvSpPr>
          <p:cNvPr id="22" name="Shape 17"/>
          <p:cNvSpPr/>
          <p:nvPr/>
        </p:nvSpPr>
        <p:spPr>
          <a:xfrm>
            <a:off x="6336792" y="4233672"/>
            <a:ext cx="530352" cy="530352"/>
          </a:xfrm>
          <a:prstGeom prst="ellipse">
            <a:avLst/>
          </a:prstGeom>
          <a:solidFill>
            <a:srgbClr val="C9A227"/>
          </a:solidFill>
        </p:spPr>
      </p:sp>
      <p:pic>
        <p:nvPicPr>
          <p:cNvPr id="23" name="Image 3" descr="/home/claude/icons/eye_ink.png"/>
          <p:cNvPicPr>
            <a:picLocks noChangeAspect="1"/>
          </p:cNvPicPr>
          <p:nvPr/>
        </p:nvPicPr>
        <p:blipFill>
          <a:blip r:embed="rId4"/>
          <a:stretch>
            <a:fillRect/>
          </a:stretch>
        </p:blipFill>
        <p:spPr>
          <a:xfrm>
            <a:off x="6405738" y="4302618"/>
            <a:ext cx="392460" cy="392460"/>
          </a:xfrm>
          <a:prstGeom prst="rect">
            <a:avLst/>
          </a:prstGeom>
        </p:spPr>
      </p:pic>
      <p:sp>
        <p:nvSpPr>
          <p:cNvPr id="24" name="Text 18"/>
          <p:cNvSpPr/>
          <p:nvPr/>
        </p:nvSpPr>
        <p:spPr>
          <a:xfrm>
            <a:off x="7040880" y="4233672"/>
            <a:ext cx="3886200" cy="365760"/>
          </a:xfrm>
          <a:prstGeom prst="rect">
            <a:avLst/>
          </a:prstGeom>
          <a:noFill/>
        </p:spPr>
        <p:txBody>
          <a:bodyPr wrap="square" rtlCol="0" anchor="ctr"/>
          <a:lstStyle/>
          <a:p>
            <a:pPr marL="0" indent="0">
              <a:buNone/>
            </a:pPr>
            <a:r>
              <a:rPr lang="en-US" sz="1550" b="1" dirty="0">
                <a:solidFill>
                  <a:srgbClr val="24211B"/>
                </a:solidFill>
                <a:latin typeface="Cambria" panose="02040503050406030204" pitchFamily="34" charset="0"/>
                <a:ea typeface="Cambria" panose="02040503050406030204" pitchFamily="34" charset="-122"/>
                <a:cs typeface="Cambria" panose="02040503050406030204" pitchFamily="34" charset="-120"/>
              </a:rPr>
              <a:t>Full CloudWatch trail</a:t>
            </a:r>
            <a:endParaRPr lang="en-US" sz="1550" dirty="0"/>
          </a:p>
        </p:txBody>
      </p:sp>
      <p:sp>
        <p:nvSpPr>
          <p:cNvPr id="25" name="Text 19"/>
          <p:cNvSpPr/>
          <p:nvPr/>
        </p:nvSpPr>
        <p:spPr>
          <a:xfrm>
            <a:off x="6336792" y="4846320"/>
            <a:ext cx="4572000" cy="777240"/>
          </a:xfrm>
          <a:prstGeom prst="rect">
            <a:avLst/>
          </a:prstGeom>
          <a:noFill/>
        </p:spPr>
        <p:txBody>
          <a:bodyPr wrap="square" rtlCol="0" anchor="ctr"/>
          <a:lstStyle/>
          <a:p>
            <a:pPr marL="0" indent="0">
              <a:lnSpc>
                <a:spcPts val="1500"/>
              </a:lnSpc>
              <a:buNone/>
            </a:pPr>
            <a:r>
              <a:rPr lang="en-US" sz="1150" dirty="0">
                <a:solidFill>
                  <a:srgbClr val="6B6355"/>
                </a:solidFill>
                <a:latin typeface="Calibri" panose="020F0502020204030204" pitchFamily="34" charset="0"/>
                <a:ea typeface="Calibri" panose="020F0502020204030204" pitchFamily="34" charset="-122"/>
                <a:cs typeface="Calibri" panose="020F0502020204030204" pitchFamily="34" charset="-120"/>
              </a:rPr>
              <a:t>Every request and event is logged — an audit trail matches every stamped receipt.</a:t>
            </a:r>
            <a:endParaRPr lang="en-US" sz="1150" dirty="0"/>
          </a:p>
        </p:txBody>
      </p:sp>
      <p:sp>
        <p:nvSpPr>
          <p:cNvPr id="26" name="Text 20"/>
          <p:cNvSpPr/>
          <p:nvPr/>
        </p:nvSpPr>
        <p:spPr>
          <a:xfrm>
            <a:off x="457200" y="6528816"/>
            <a:ext cx="6400800" cy="274320"/>
          </a:xfrm>
          <a:prstGeom prst="rect">
            <a:avLst/>
          </a:prstGeom>
          <a:noFill/>
        </p:spPr>
        <p:txBody>
          <a:bodyPr wrap="square" rtlCol="0" anchor="ctr"/>
          <a:lstStyle/>
          <a:p>
            <a:pPr marL="0" indent="0">
              <a:buNone/>
            </a:pPr>
            <a:r>
              <a:rPr lang="en-US" sz="85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CLOUD ASSIGNMENT SUBMISSION PORTAL</a:t>
            </a:r>
            <a:endParaRPr lang="en-US" sz="850" dirty="0"/>
          </a:p>
        </p:txBody>
      </p:sp>
      <p:sp>
        <p:nvSpPr>
          <p:cNvPr id="27" name="Text 21"/>
          <p:cNvSpPr/>
          <p:nvPr/>
        </p:nvSpPr>
        <p:spPr>
          <a:xfrm>
            <a:off x="11274552" y="6528816"/>
            <a:ext cx="457200" cy="274320"/>
          </a:xfrm>
          <a:prstGeom prst="rect">
            <a:avLst/>
          </a:prstGeom>
          <a:noFill/>
        </p:spPr>
        <p:txBody>
          <a:bodyPr wrap="square" rtlCol="0" anchor="ctr"/>
          <a:lstStyle/>
          <a:p>
            <a:pPr marL="0" indent="0" algn="r">
              <a:buNone/>
            </a:pPr>
            <a:r>
              <a:rPr lang="en-US" sz="8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40080" y="502920"/>
            <a:ext cx="1691640" cy="292608"/>
          </a:xfrm>
          <a:prstGeom prst="roundRect">
            <a:avLst>
              <a:gd name="adj" fmla="val 15625"/>
            </a:avLst>
          </a:prstGeom>
          <a:ln w="12700">
            <a:solidFill>
              <a:srgbClr val="B5482E"/>
            </a:solidFill>
            <a:prstDash val="solid"/>
          </a:ln>
        </p:spPr>
      </p:sp>
      <p:sp>
        <p:nvSpPr>
          <p:cNvPr id="3" name="Text 1"/>
          <p:cNvSpPr/>
          <p:nvPr/>
        </p:nvSpPr>
        <p:spPr>
          <a:xfrm>
            <a:off x="640080" y="502920"/>
            <a:ext cx="1691640" cy="292608"/>
          </a:xfrm>
          <a:prstGeom prst="rect">
            <a:avLst/>
          </a:prstGeom>
          <a:noFill/>
        </p:spPr>
        <p:txBody>
          <a:bodyPr wrap="square" rtlCol="0" anchor="ctr"/>
          <a:lstStyle/>
          <a:p>
            <a:pPr marL="0" indent="0" algn="ctr">
              <a:buNone/>
            </a:pPr>
            <a:r>
              <a:rPr lang="en-US" sz="1050" kern="0" spc="100"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06 · ROADMAP</a:t>
            </a:r>
            <a:endParaRPr lang="en-US" sz="1050" dirty="0"/>
          </a:p>
        </p:txBody>
      </p:sp>
      <p:sp>
        <p:nvSpPr>
          <p:cNvPr id="4" name="Text 2"/>
          <p:cNvSpPr/>
          <p:nvPr/>
        </p:nvSpPr>
        <p:spPr>
          <a:xfrm>
            <a:off x="640080" y="914400"/>
            <a:ext cx="7315200" cy="640080"/>
          </a:xfrm>
          <a:prstGeom prst="rect">
            <a:avLst/>
          </a:prstGeom>
          <a:noFill/>
        </p:spPr>
        <p:txBody>
          <a:bodyPr wrap="square" rtlCol="0" anchor="ctr"/>
          <a:lstStyle/>
          <a:p>
            <a:pPr marL="0" indent="0">
              <a:buNone/>
            </a:pPr>
            <a:r>
              <a:rPr lang="en-US" sz="2700" b="1" dirty="0">
                <a:solidFill>
                  <a:srgbClr val="ECE6D8"/>
                </a:solidFill>
                <a:latin typeface="Cambria" panose="02040503050406030204" pitchFamily="34" charset="0"/>
                <a:ea typeface="Cambria" panose="02040503050406030204" pitchFamily="34" charset="-122"/>
                <a:cs typeface="Cambria" panose="02040503050406030204" pitchFamily="34" charset="-120"/>
              </a:rPr>
              <a:t>What's next on the desk</a:t>
            </a:r>
            <a:endParaRPr lang="en-US" sz="2700" dirty="0"/>
          </a:p>
        </p:txBody>
      </p:sp>
      <p:sp>
        <p:nvSpPr>
          <p:cNvPr id="5" name="Shape 3"/>
          <p:cNvSpPr/>
          <p:nvPr/>
        </p:nvSpPr>
        <p:spPr>
          <a:xfrm>
            <a:off x="640080" y="1965960"/>
            <a:ext cx="566928" cy="566928"/>
          </a:xfrm>
          <a:prstGeom prst="ellipse">
            <a:avLst/>
          </a:prstGeom>
          <a:solidFill>
            <a:srgbClr val="4F7A63"/>
          </a:solidFill>
        </p:spPr>
      </p:sp>
      <p:pic>
        <p:nvPicPr>
          <p:cNvPr id="6" name="Image 0" descr="/home/claude/icons/user_graduate_cream.png"/>
          <p:cNvPicPr>
            <a:picLocks noChangeAspect="1"/>
          </p:cNvPicPr>
          <p:nvPr/>
        </p:nvPicPr>
        <p:blipFill>
          <a:blip r:embed="rId1"/>
          <a:stretch>
            <a:fillRect/>
          </a:stretch>
        </p:blipFill>
        <p:spPr>
          <a:xfrm>
            <a:off x="713781" y="2039661"/>
            <a:ext cx="419527" cy="419527"/>
          </a:xfrm>
          <a:prstGeom prst="rect">
            <a:avLst/>
          </a:prstGeom>
        </p:spPr>
      </p:pic>
      <p:sp>
        <p:nvSpPr>
          <p:cNvPr id="7" name="Text 4"/>
          <p:cNvSpPr/>
          <p:nvPr/>
        </p:nvSpPr>
        <p:spPr>
          <a:xfrm>
            <a:off x="1389888" y="1920240"/>
            <a:ext cx="4325112" cy="365760"/>
          </a:xfrm>
          <a:prstGeom prst="rect">
            <a:avLst/>
          </a:prstGeom>
          <a:noFill/>
        </p:spPr>
        <p:txBody>
          <a:bodyPr wrap="square" rtlCol="0" anchor="ctr"/>
          <a:lstStyle/>
          <a:p>
            <a:pPr marL="0" indent="0">
              <a:buNone/>
            </a:pPr>
            <a:r>
              <a:rPr lang="en-US" sz="1650" b="1" dirty="0">
                <a:solidFill>
                  <a:srgbClr val="ECE6D8"/>
                </a:solidFill>
                <a:latin typeface="Cambria" panose="02040503050406030204" pitchFamily="34" charset="0"/>
                <a:ea typeface="Cambria" panose="02040503050406030204" pitchFamily="34" charset="-122"/>
                <a:cs typeface="Cambria" panose="02040503050406030204" pitchFamily="34" charset="-120"/>
              </a:rPr>
              <a:t>Real login</a:t>
            </a:r>
            <a:endParaRPr lang="en-US" sz="1650" dirty="0"/>
          </a:p>
        </p:txBody>
      </p:sp>
      <p:sp>
        <p:nvSpPr>
          <p:cNvPr id="8" name="Text 5"/>
          <p:cNvSpPr/>
          <p:nvPr/>
        </p:nvSpPr>
        <p:spPr>
          <a:xfrm>
            <a:off x="1389888" y="2313432"/>
            <a:ext cx="4325112" cy="914400"/>
          </a:xfrm>
          <a:prstGeom prst="rect">
            <a:avLst/>
          </a:prstGeom>
          <a:noFill/>
        </p:spPr>
        <p:txBody>
          <a:bodyPr wrap="square" rtlCol="0" anchor="ctr"/>
          <a:lstStyle/>
          <a:p>
            <a:pPr marL="0" indent="0">
              <a:lnSpc>
                <a:spcPts val="1600"/>
              </a:lnSpc>
              <a:buNone/>
            </a:pPr>
            <a:r>
              <a:rPr lang="en-US" sz="1250" dirty="0">
                <a:solidFill>
                  <a:srgbClr val="9AA7B3"/>
                </a:solidFill>
                <a:latin typeface="Calibri" panose="020F0502020204030204" pitchFamily="34" charset="0"/>
                <a:ea typeface="Calibri" panose="020F0502020204030204" pitchFamily="34" charset="-122"/>
                <a:cs typeface="Calibri" panose="020F0502020204030204" pitchFamily="34" charset="-120"/>
              </a:rPr>
              <a:t>Cognito-based accounts for students and lecturers, replacing the shared access code.</a:t>
            </a:r>
            <a:endParaRPr lang="en-US" sz="1250" dirty="0"/>
          </a:p>
        </p:txBody>
      </p:sp>
      <p:sp>
        <p:nvSpPr>
          <p:cNvPr id="9" name="Shape 6"/>
          <p:cNvSpPr/>
          <p:nvPr/>
        </p:nvSpPr>
        <p:spPr>
          <a:xfrm>
            <a:off x="6080760" y="1965960"/>
            <a:ext cx="566928" cy="566928"/>
          </a:xfrm>
          <a:prstGeom prst="ellipse">
            <a:avLst/>
          </a:prstGeom>
          <a:solidFill>
            <a:srgbClr val="4F7A63"/>
          </a:solidFill>
        </p:spPr>
      </p:sp>
      <p:pic>
        <p:nvPicPr>
          <p:cNvPr id="10" name="Image 1" descr="/home/claude/icons/envelope_cream.png"/>
          <p:cNvPicPr>
            <a:picLocks noChangeAspect="1"/>
          </p:cNvPicPr>
          <p:nvPr/>
        </p:nvPicPr>
        <p:blipFill>
          <a:blip r:embed="rId2"/>
          <a:stretch>
            <a:fillRect/>
          </a:stretch>
        </p:blipFill>
        <p:spPr>
          <a:xfrm>
            <a:off x="6154461" y="2039661"/>
            <a:ext cx="419527" cy="419527"/>
          </a:xfrm>
          <a:prstGeom prst="rect">
            <a:avLst/>
          </a:prstGeom>
        </p:spPr>
      </p:pic>
      <p:sp>
        <p:nvSpPr>
          <p:cNvPr id="11" name="Text 7"/>
          <p:cNvSpPr/>
          <p:nvPr/>
        </p:nvSpPr>
        <p:spPr>
          <a:xfrm>
            <a:off x="6830568" y="1920240"/>
            <a:ext cx="4325112" cy="365760"/>
          </a:xfrm>
          <a:prstGeom prst="rect">
            <a:avLst/>
          </a:prstGeom>
          <a:noFill/>
        </p:spPr>
        <p:txBody>
          <a:bodyPr wrap="square" rtlCol="0" anchor="ctr"/>
          <a:lstStyle/>
          <a:p>
            <a:pPr marL="0" indent="0">
              <a:buNone/>
            </a:pPr>
            <a:r>
              <a:rPr lang="en-US" sz="1650" b="1" dirty="0">
                <a:solidFill>
                  <a:srgbClr val="ECE6D8"/>
                </a:solidFill>
                <a:latin typeface="Cambria" panose="02040503050406030204" pitchFamily="34" charset="0"/>
                <a:ea typeface="Cambria" panose="02040503050406030204" pitchFamily="34" charset="-122"/>
                <a:cs typeface="Cambria" panose="02040503050406030204" pitchFamily="34" charset="-120"/>
              </a:rPr>
              <a:t>Email notifications</a:t>
            </a:r>
            <a:endParaRPr lang="en-US" sz="1650" dirty="0"/>
          </a:p>
        </p:txBody>
      </p:sp>
      <p:sp>
        <p:nvSpPr>
          <p:cNvPr id="12" name="Text 8"/>
          <p:cNvSpPr/>
          <p:nvPr/>
        </p:nvSpPr>
        <p:spPr>
          <a:xfrm>
            <a:off x="6830568" y="2313432"/>
            <a:ext cx="4325112" cy="914400"/>
          </a:xfrm>
          <a:prstGeom prst="rect">
            <a:avLst/>
          </a:prstGeom>
          <a:noFill/>
        </p:spPr>
        <p:txBody>
          <a:bodyPr wrap="square" rtlCol="0" anchor="ctr"/>
          <a:lstStyle/>
          <a:p>
            <a:pPr marL="0" indent="0">
              <a:lnSpc>
                <a:spcPts val="1600"/>
              </a:lnSpc>
              <a:buNone/>
            </a:pPr>
            <a:r>
              <a:rPr lang="en-US" sz="1250" dirty="0">
                <a:solidFill>
                  <a:srgbClr val="9AA7B3"/>
                </a:solidFill>
                <a:latin typeface="Calibri" panose="020F0502020204030204" pitchFamily="34" charset="0"/>
                <a:ea typeface="Calibri" panose="020F0502020204030204" pitchFamily="34" charset="-122"/>
                <a:cs typeface="Calibri" panose="020F0502020204030204" pitchFamily="34" charset="-120"/>
              </a:rPr>
              <a:t>Automatic confirmation and deadline reminders via SES.</a:t>
            </a:r>
            <a:endParaRPr lang="en-US" sz="1250" dirty="0"/>
          </a:p>
        </p:txBody>
      </p:sp>
      <p:sp>
        <p:nvSpPr>
          <p:cNvPr id="13" name="Shape 9"/>
          <p:cNvSpPr/>
          <p:nvPr/>
        </p:nvSpPr>
        <p:spPr>
          <a:xfrm>
            <a:off x="640080" y="3703320"/>
            <a:ext cx="566928" cy="566928"/>
          </a:xfrm>
          <a:prstGeom prst="ellipse">
            <a:avLst/>
          </a:prstGeom>
          <a:solidFill>
            <a:srgbClr val="4F7A63"/>
          </a:solidFill>
        </p:spPr>
      </p:sp>
      <p:pic>
        <p:nvPicPr>
          <p:cNvPr id="14" name="Image 2" descr="/home/claude/icons/history_cream.png"/>
          <p:cNvPicPr>
            <a:picLocks noChangeAspect="1"/>
          </p:cNvPicPr>
          <p:nvPr/>
        </p:nvPicPr>
        <p:blipFill>
          <a:blip r:embed="rId3"/>
          <a:stretch>
            <a:fillRect/>
          </a:stretch>
        </p:blipFill>
        <p:spPr>
          <a:xfrm>
            <a:off x="713781" y="3777021"/>
            <a:ext cx="419527" cy="419527"/>
          </a:xfrm>
          <a:prstGeom prst="rect">
            <a:avLst/>
          </a:prstGeom>
        </p:spPr>
      </p:pic>
      <p:sp>
        <p:nvSpPr>
          <p:cNvPr id="15" name="Text 10"/>
          <p:cNvSpPr/>
          <p:nvPr/>
        </p:nvSpPr>
        <p:spPr>
          <a:xfrm>
            <a:off x="1389888" y="3657600"/>
            <a:ext cx="4325112" cy="365760"/>
          </a:xfrm>
          <a:prstGeom prst="rect">
            <a:avLst/>
          </a:prstGeom>
          <a:noFill/>
        </p:spPr>
        <p:txBody>
          <a:bodyPr wrap="square" rtlCol="0" anchor="ctr"/>
          <a:lstStyle/>
          <a:p>
            <a:pPr marL="0" indent="0">
              <a:buNone/>
            </a:pPr>
            <a:r>
              <a:rPr lang="en-US" sz="1650" b="1" dirty="0">
                <a:solidFill>
                  <a:srgbClr val="ECE6D8"/>
                </a:solidFill>
                <a:latin typeface="Cambria" panose="02040503050406030204" pitchFamily="34" charset="0"/>
                <a:ea typeface="Cambria" panose="02040503050406030204" pitchFamily="34" charset="-122"/>
                <a:cs typeface="Cambria" panose="02040503050406030204" pitchFamily="34" charset="-120"/>
              </a:rPr>
              <a:t>File versioning</a:t>
            </a:r>
            <a:endParaRPr lang="en-US" sz="1650" dirty="0"/>
          </a:p>
        </p:txBody>
      </p:sp>
      <p:sp>
        <p:nvSpPr>
          <p:cNvPr id="16" name="Text 11"/>
          <p:cNvSpPr/>
          <p:nvPr/>
        </p:nvSpPr>
        <p:spPr>
          <a:xfrm>
            <a:off x="1389888" y="4050792"/>
            <a:ext cx="4325112" cy="914400"/>
          </a:xfrm>
          <a:prstGeom prst="rect">
            <a:avLst/>
          </a:prstGeom>
          <a:noFill/>
        </p:spPr>
        <p:txBody>
          <a:bodyPr wrap="square" rtlCol="0" anchor="ctr"/>
          <a:lstStyle/>
          <a:p>
            <a:pPr marL="0" indent="0">
              <a:lnSpc>
                <a:spcPts val="1600"/>
              </a:lnSpc>
              <a:buNone/>
            </a:pPr>
            <a:r>
              <a:rPr lang="en-US" sz="1250" dirty="0">
                <a:solidFill>
                  <a:srgbClr val="9AA7B3"/>
                </a:solidFill>
                <a:latin typeface="Calibri" panose="020F0502020204030204" pitchFamily="34" charset="0"/>
                <a:ea typeface="Calibri" panose="020F0502020204030204" pitchFamily="34" charset="-122"/>
                <a:cs typeface="Calibri" panose="020F0502020204030204" pitchFamily="34" charset="-120"/>
              </a:rPr>
              <a:t>Resubmissions kept as a history instead of overwriting the original file.</a:t>
            </a:r>
            <a:endParaRPr lang="en-US" sz="1250" dirty="0"/>
          </a:p>
        </p:txBody>
      </p:sp>
      <p:sp>
        <p:nvSpPr>
          <p:cNvPr id="17" name="Shape 12"/>
          <p:cNvSpPr/>
          <p:nvPr/>
        </p:nvSpPr>
        <p:spPr>
          <a:xfrm>
            <a:off x="6080760" y="3703320"/>
            <a:ext cx="566928" cy="566928"/>
          </a:xfrm>
          <a:prstGeom prst="ellipse">
            <a:avLst/>
          </a:prstGeom>
          <a:solidFill>
            <a:srgbClr val="4F7A63"/>
          </a:solidFill>
        </p:spPr>
      </p:sp>
      <p:pic>
        <p:nvPicPr>
          <p:cNvPr id="18" name="Image 3" descr="/home/claude/icons/chart_cream.png"/>
          <p:cNvPicPr>
            <a:picLocks noChangeAspect="1"/>
          </p:cNvPicPr>
          <p:nvPr/>
        </p:nvPicPr>
        <p:blipFill>
          <a:blip r:embed="rId4"/>
          <a:stretch>
            <a:fillRect/>
          </a:stretch>
        </p:blipFill>
        <p:spPr>
          <a:xfrm>
            <a:off x="6154461" y="3777021"/>
            <a:ext cx="419527" cy="419527"/>
          </a:xfrm>
          <a:prstGeom prst="rect">
            <a:avLst/>
          </a:prstGeom>
        </p:spPr>
      </p:pic>
      <p:sp>
        <p:nvSpPr>
          <p:cNvPr id="19" name="Text 13"/>
          <p:cNvSpPr/>
          <p:nvPr/>
        </p:nvSpPr>
        <p:spPr>
          <a:xfrm>
            <a:off x="6830568" y="3657600"/>
            <a:ext cx="4325112" cy="365760"/>
          </a:xfrm>
          <a:prstGeom prst="rect">
            <a:avLst/>
          </a:prstGeom>
          <a:noFill/>
        </p:spPr>
        <p:txBody>
          <a:bodyPr wrap="square" rtlCol="0" anchor="ctr"/>
          <a:lstStyle/>
          <a:p>
            <a:pPr marL="0" indent="0">
              <a:buNone/>
            </a:pPr>
            <a:r>
              <a:rPr lang="en-US" sz="1650" b="1" dirty="0">
                <a:solidFill>
                  <a:srgbClr val="ECE6D8"/>
                </a:solidFill>
                <a:latin typeface="Cambria" panose="02040503050406030204" pitchFamily="34" charset="0"/>
                <a:ea typeface="Cambria" panose="02040503050406030204" pitchFamily="34" charset="-122"/>
                <a:cs typeface="Cambria" panose="02040503050406030204" pitchFamily="34" charset="-120"/>
              </a:rPr>
              <a:t>Analytics dashboard</a:t>
            </a:r>
            <a:endParaRPr lang="en-US" sz="1650" dirty="0"/>
          </a:p>
        </p:txBody>
      </p:sp>
      <p:sp>
        <p:nvSpPr>
          <p:cNvPr id="20" name="Text 14"/>
          <p:cNvSpPr/>
          <p:nvPr/>
        </p:nvSpPr>
        <p:spPr>
          <a:xfrm>
            <a:off x="6830568" y="4050792"/>
            <a:ext cx="4325112" cy="914400"/>
          </a:xfrm>
          <a:prstGeom prst="rect">
            <a:avLst/>
          </a:prstGeom>
          <a:noFill/>
        </p:spPr>
        <p:txBody>
          <a:bodyPr wrap="square" rtlCol="0" anchor="ctr"/>
          <a:lstStyle/>
          <a:p>
            <a:pPr marL="0" indent="0">
              <a:lnSpc>
                <a:spcPts val="1600"/>
              </a:lnSpc>
              <a:buNone/>
            </a:pPr>
            <a:r>
              <a:rPr lang="en-US" sz="1250" dirty="0">
                <a:solidFill>
                  <a:srgbClr val="9AA7B3"/>
                </a:solidFill>
                <a:latin typeface="Calibri" panose="020F0502020204030204" pitchFamily="34" charset="0"/>
                <a:ea typeface="Calibri" panose="020F0502020204030204" pitchFamily="34" charset="-122"/>
                <a:cs typeface="Calibri" panose="020F0502020204030204" pitchFamily="34" charset="-120"/>
              </a:rPr>
              <a:t>On-time rates and submission trends per course, drawn from the same DynamoDB table.</a:t>
            </a:r>
            <a:endParaRPr lang="en-US" sz="1250" dirty="0"/>
          </a:p>
        </p:txBody>
      </p:sp>
      <p:sp>
        <p:nvSpPr>
          <p:cNvPr id="21" name="Text 15"/>
          <p:cNvSpPr/>
          <p:nvPr/>
        </p:nvSpPr>
        <p:spPr>
          <a:xfrm>
            <a:off x="457200" y="6528816"/>
            <a:ext cx="6400800" cy="274320"/>
          </a:xfrm>
          <a:prstGeom prst="rect">
            <a:avLst/>
          </a:prstGeom>
          <a:noFill/>
        </p:spPr>
        <p:txBody>
          <a:bodyPr wrap="square" rtlCol="0" anchor="ctr"/>
          <a:lstStyle/>
          <a:p>
            <a:pPr marL="0" indent="0">
              <a:buNone/>
            </a:pPr>
            <a:r>
              <a:rPr lang="en-US" sz="85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CLOUD ASSIGNMENT SUBMISSION PORTAL</a:t>
            </a:r>
            <a:endParaRPr lang="en-US" sz="850" dirty="0"/>
          </a:p>
        </p:txBody>
      </p:sp>
      <p:sp>
        <p:nvSpPr>
          <p:cNvPr id="22" name="Text 16"/>
          <p:cNvSpPr/>
          <p:nvPr/>
        </p:nvSpPr>
        <p:spPr>
          <a:xfrm>
            <a:off x="11274552" y="6528816"/>
            <a:ext cx="457200" cy="274320"/>
          </a:xfrm>
          <a:prstGeom prst="rect">
            <a:avLst/>
          </a:prstGeom>
          <a:noFill/>
        </p:spPr>
        <p:txBody>
          <a:bodyPr wrap="square" rtlCol="0" anchor="ctr"/>
          <a:lstStyle/>
          <a:p>
            <a:pPr marL="0" indent="0" algn="r">
              <a:buNone/>
            </a:pPr>
            <a:r>
              <a:rPr lang="en-US" sz="8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1822"/>
          </a:solidFill>
        </p:spPr>
      </p:sp>
      <p:sp>
        <p:nvSpPr>
          <p:cNvPr id="5" name="Text 3"/>
          <p:cNvSpPr/>
          <p:nvPr/>
        </p:nvSpPr>
        <p:spPr>
          <a:xfrm>
            <a:off x="640080" y="1108710"/>
            <a:ext cx="10515600" cy="3006090"/>
          </a:xfrm>
          <a:prstGeom prst="rect">
            <a:avLst/>
          </a:prstGeom>
          <a:noFill/>
        </p:spPr>
        <p:txBody>
          <a:bodyPr wrap="square" rtlCol="0" anchor="ctr"/>
          <a:lstStyle/>
          <a:p>
            <a:pPr marL="0" indent="0" algn="ctr">
              <a:buNone/>
            </a:pPr>
            <a:r>
              <a:rPr lang="en-US" sz="4000" b="1" dirty="0">
                <a:solidFill>
                  <a:srgbClr val="ECE6D8"/>
                </a:solidFill>
                <a:latin typeface="Cambria" panose="02040503050406030204" pitchFamily="34" charset="0"/>
                <a:ea typeface="Cambria" panose="02040503050406030204" pitchFamily="34" charset="-122"/>
                <a:cs typeface="Cambria" panose="02040503050406030204" pitchFamily="34" charset="-120"/>
              </a:rPr>
              <a:t>Thank you</a:t>
            </a:r>
            <a:endParaRPr lang="en-US" sz="4000" dirty="0"/>
          </a:p>
        </p:txBody>
      </p:sp>
      <p:sp>
        <p:nvSpPr>
          <p:cNvPr id="6" name="Text 4"/>
          <p:cNvSpPr/>
          <p:nvPr/>
        </p:nvSpPr>
        <p:spPr>
          <a:xfrm>
            <a:off x="640080" y="3977640"/>
            <a:ext cx="10515600" cy="457200"/>
          </a:xfrm>
          <a:prstGeom prst="rect">
            <a:avLst/>
          </a:prstGeom>
          <a:noFill/>
        </p:spPr>
        <p:txBody>
          <a:bodyPr wrap="square" rtlCol="0" anchor="ctr"/>
          <a:lstStyle/>
          <a:p>
            <a:pPr marL="0" indent="0" algn="ctr">
              <a:buNone/>
            </a:pPr>
            <a:r>
              <a:rPr lang="en-US" sz="1500" dirty="0">
                <a:solidFill>
                  <a:srgbClr val="9AA7B3"/>
                </a:solidFill>
                <a:latin typeface="Calibri" panose="020F0502020204030204" pitchFamily="34" charset="0"/>
                <a:ea typeface="Calibri" panose="020F0502020204030204" pitchFamily="34" charset="-122"/>
                <a:cs typeface="Calibri" panose="020F0502020204030204" pitchFamily="34" charset="-120"/>
              </a:rPr>
              <a:t>Questions welcome at the desk.</a:t>
            </a:r>
            <a:endParaRPr lang="en-US" sz="1500" dirty="0"/>
          </a:p>
        </p:txBody>
      </p:sp>
      <p:sp>
        <p:nvSpPr>
          <p:cNvPr id="7" name="Text 5"/>
          <p:cNvSpPr/>
          <p:nvPr/>
        </p:nvSpPr>
        <p:spPr>
          <a:xfrm>
            <a:off x="640080" y="4892040"/>
            <a:ext cx="10515600" cy="365760"/>
          </a:xfrm>
          <a:prstGeom prst="rect">
            <a:avLst/>
          </a:prstGeom>
          <a:noFill/>
        </p:spPr>
        <p:txBody>
          <a:bodyPr wrap="square" rtlCol="0" anchor="ctr"/>
          <a:lstStyle/>
          <a:p>
            <a:pPr marL="0" indent="0" algn="ctr">
              <a:buNone/>
            </a:pPr>
            <a:r>
              <a:rPr lang="en-US" sz="1300" kern="0" spc="100" dirty="0">
                <a:solidFill>
                  <a:srgbClr val="B5482E"/>
                </a:solidFill>
                <a:latin typeface="Courier New" panose="02070309020205020404" pitchFamily="34" charset="0"/>
                <a:ea typeface="Courier New" panose="02070309020205020404" pitchFamily="34" charset="-122"/>
                <a:cs typeface="Courier New" panose="02070309020205020404" pitchFamily="34" charset="-120"/>
              </a:rPr>
              <a:t>github.com/josh059/Cloud-assignment-submission-portal</a:t>
            </a:r>
            <a:endParaRPr lang="en-US" sz="1300" dirty="0"/>
          </a:p>
        </p:txBody>
      </p:sp>
      <p:sp>
        <p:nvSpPr>
          <p:cNvPr id="8" name="Text 6"/>
          <p:cNvSpPr/>
          <p:nvPr/>
        </p:nvSpPr>
        <p:spPr>
          <a:xfrm>
            <a:off x="640080" y="5303520"/>
            <a:ext cx="10515600" cy="365760"/>
          </a:xfrm>
          <a:prstGeom prst="rect">
            <a:avLst/>
          </a:prstGeom>
          <a:noFill/>
        </p:spPr>
        <p:txBody>
          <a:bodyPr wrap="square" rtlCol="0" anchor="ctr"/>
          <a:lstStyle/>
          <a:p>
            <a:pPr marL="0" indent="0" algn="ctr">
              <a:buNone/>
            </a:pPr>
            <a:r>
              <a:rPr lang="en-US" sz="105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Kappa-Team  ·  Cloud Build With Peers  ·  Akwannya Hub  ·  Cohort 1</a:t>
            </a:r>
            <a:endParaRPr lang="en-US" sz="1050" dirty="0"/>
          </a:p>
        </p:txBody>
      </p:sp>
      <p:sp>
        <p:nvSpPr>
          <p:cNvPr id="9" name="Text 7"/>
          <p:cNvSpPr/>
          <p:nvPr/>
        </p:nvSpPr>
        <p:spPr>
          <a:xfrm>
            <a:off x="457200" y="6528816"/>
            <a:ext cx="6400800" cy="274320"/>
          </a:xfrm>
          <a:prstGeom prst="rect">
            <a:avLst/>
          </a:prstGeom>
          <a:noFill/>
        </p:spPr>
        <p:txBody>
          <a:bodyPr wrap="square" rtlCol="0" anchor="ctr"/>
          <a:lstStyle/>
          <a:p>
            <a:pPr marL="0" indent="0">
              <a:buNone/>
            </a:pPr>
            <a:r>
              <a:rPr lang="en-US" sz="850" kern="0" spc="10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CLOUD ASSIGNMENT SUBMISSION PORTAL</a:t>
            </a:r>
            <a:endParaRPr lang="en-US" sz="850" dirty="0"/>
          </a:p>
        </p:txBody>
      </p:sp>
      <p:sp>
        <p:nvSpPr>
          <p:cNvPr id="10" name="Text 8"/>
          <p:cNvSpPr/>
          <p:nvPr/>
        </p:nvSpPr>
        <p:spPr>
          <a:xfrm>
            <a:off x="11274552" y="6528816"/>
            <a:ext cx="457200" cy="274320"/>
          </a:xfrm>
          <a:prstGeom prst="rect">
            <a:avLst/>
          </a:prstGeom>
          <a:noFill/>
        </p:spPr>
        <p:txBody>
          <a:bodyPr wrap="square" rtlCol="0" anchor="ctr"/>
          <a:lstStyle/>
          <a:p>
            <a:pPr marL="0" indent="0" algn="r">
              <a:buNone/>
            </a:pPr>
            <a:r>
              <a:rPr lang="en-US" sz="850" dirty="0">
                <a:solidFill>
                  <a:srgbClr val="9AA7B3"/>
                </a:solidFill>
                <a:latin typeface="Courier New" panose="02070309020205020404" pitchFamily="34" charset="0"/>
                <a:ea typeface="Courier New" panose="02070309020205020404" pitchFamily="34" charset="-122"/>
                <a:cs typeface="Courier New" panose="02070309020205020404" pitchFamily="34" charset="-120"/>
              </a:rPr>
              <a:t>08</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3408</Words>
  <Application>WPS Presentation</Application>
  <PresentationFormat>On-screen Show (16:9)</PresentationFormat>
  <Paragraphs>209</Paragraphs>
  <Slides>8</Slides>
  <Notes>8</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8</vt:i4>
      </vt:variant>
    </vt:vector>
  </HeadingPairs>
  <TitlesOfParts>
    <vt:vector size="23" baseType="lpstr">
      <vt:lpstr>Arial</vt:lpstr>
      <vt:lpstr>SimSun</vt:lpstr>
      <vt:lpstr>Wingdings</vt:lpstr>
      <vt:lpstr>Courier New</vt:lpstr>
      <vt:lpstr>Courier New</vt:lpstr>
      <vt:lpstr>Courier New</vt:lpstr>
      <vt:lpstr>Cambria</vt:lpstr>
      <vt:lpstr>Cambria</vt:lpstr>
      <vt:lpstr>Cambria</vt:lpstr>
      <vt:lpstr>Calibri</vt:lpstr>
      <vt:lpstr>Calibri</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Joshua Osafo</cp:lastModifiedBy>
  <cp:revision>2</cp:revision>
  <dcterms:created xsi:type="dcterms:W3CDTF">2026-07-10T18:33:00Z</dcterms:created>
  <dcterms:modified xsi:type="dcterms:W3CDTF">2026-07-10T18:41:27Z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B799DC8190B04A3E95286C8A18E38FDB_12</vt:lpwstr>
  </property>
</Properties>
</file>